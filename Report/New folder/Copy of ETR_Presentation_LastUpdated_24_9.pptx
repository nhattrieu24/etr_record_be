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12192000"/>
  <p:embeddedFontLst>
    <p:embeddedFont>
      <p:font typeface="Merriweather"/>
      <p:regular r:id="rId27"/>
      <p:bold r:id="rId28"/>
      <p:italic r:id="rId29"/>
      <p:boldItalic r:id="rId30"/>
    </p:embeddedFont>
    <p:embeddedFont>
      <p:font typeface="DM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B64184-6865-49B5-A5D8-91DD9C2925A0}">
  <a:tblStyle styleId="{97B64184-6865-49B5-A5D8-91DD9C2925A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erriweather-bold.fntdata"/><Relationship Id="rId27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regular.fntdata"/><Relationship Id="rId3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33" Type="http://schemas.openxmlformats.org/officeDocument/2006/relationships/font" Target="fonts/DMSans-italic.fntdata"/><Relationship Id="rId10" Type="http://schemas.openxmlformats.org/officeDocument/2006/relationships/slide" Target="slides/slide5.xml"/><Relationship Id="rId32" Type="http://schemas.openxmlformats.org/officeDocument/2006/relationships/font" Target="fonts/DM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DM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6046ba5e9777ba3e_0_1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h6046ba5e9777ba3e_0_1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5626872e88c1bd3e_8_39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h5626872e88c1bd3e_8_39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6046ba5e9777ba3e_0_2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h6046ba5e9777ba3e_0_2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h176bad02b694b834_0_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h176bad02b694b834_0_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176bad02b694b834_0_5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h176bad02b694b834_0_5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h176bad02b694b834_0_7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h176bad02b694b834_0_7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176bad02b694b834_0_9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h176bad02b694b834_0_9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h176bad02b694b834_0_10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h176bad02b694b834_0_10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5626872e88c1bd3e_65_0)">
  <p:cSld name="Generated (h5626872e88c1bd3e_65_0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324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/>
        </p:nvSpPr>
        <p:spPr>
          <a:xfrm>
            <a:off x="914400" y="8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93C5FD"/>
                </a:solidFill>
              </a:rPr>
              <a:t>SU26SE104</a:t>
            </a:r>
            <a:r>
              <a:rPr b="1" i="0" lang="en-US" sz="12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  •   CAPSTONE PROJECT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5"/>
          <p:cNvSpPr txBox="1"/>
          <p:nvPr/>
        </p:nvSpPr>
        <p:spPr>
          <a:xfrm>
            <a:off x="914400" y="1250000"/>
            <a:ext cx="85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</a:rPr>
              <a:t>ELECTRONIC TRAINING RECORD (ETR) SYSTEM IN AVIATION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5"/>
          <p:cNvSpPr txBox="1"/>
          <p:nvPr/>
        </p:nvSpPr>
        <p:spPr>
          <a:xfrm>
            <a:off x="914400" y="2080000"/>
            <a:ext cx="81999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C7D2FE"/>
                </a:solidFill>
              </a:rPr>
              <a:t>Capstone Project Presentation – Information System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" name="Google Shape;19;p5"/>
          <p:cNvCxnSpPr/>
          <p:nvPr/>
        </p:nvCxnSpPr>
        <p:spPr>
          <a:xfrm>
            <a:off x="914400" y="2620000"/>
            <a:ext cx="5600000" cy="0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5"/>
          <p:cNvSpPr txBox="1"/>
          <p:nvPr/>
        </p:nvSpPr>
        <p:spPr>
          <a:xfrm>
            <a:off x="914400" y="2820000"/>
            <a:ext cx="8600000" cy="2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DBEAFE"/>
                </a:solidFill>
                <a:latin typeface="Arial"/>
                <a:ea typeface="Arial"/>
                <a:cs typeface="Arial"/>
                <a:sym typeface="Arial"/>
              </a:rPr>
              <a:t>Group: </a:t>
            </a:r>
            <a:r>
              <a:rPr b="1" i="0" lang="en-US" sz="1250" u="none" cap="none" strike="noStrike">
                <a:solidFill>
                  <a:srgbClr val="DBEAFE"/>
                </a:solidFill>
                <a:latin typeface="Arial"/>
                <a:ea typeface="Arial"/>
                <a:cs typeface="Arial"/>
                <a:sym typeface="Arial"/>
              </a:rPr>
              <a:t>SU26</a:t>
            </a:r>
            <a:r>
              <a:rPr b="1" lang="en-US" sz="1250">
                <a:solidFill>
                  <a:srgbClr val="DBEAFE"/>
                </a:solidFill>
              </a:rPr>
              <a:t>SE104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62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Arial"/>
              <a:buChar char="•"/>
            </a:pPr>
            <a:r>
              <a:rPr b="1" i="0" lang="en-US" sz="11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Nguyen Huu Nhat Trieu (SE170486) — </a:t>
            </a:r>
            <a:r>
              <a:rPr b="0" i="0" lang="en-US" sz="11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Team Leader · </a:t>
            </a:r>
            <a:r>
              <a:rPr lang="en-US" sz="1150">
                <a:solidFill>
                  <a:srgbClr val="E2E8F0"/>
                </a:solidFill>
              </a:rPr>
              <a:t>Back-end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Arial"/>
              <a:buChar char="•"/>
            </a:pPr>
            <a:r>
              <a:rPr b="1" i="0" lang="en-US" sz="11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Vo Trong Nhan (SE171411) — </a:t>
            </a:r>
            <a:r>
              <a:rPr b="0" i="0" lang="en-US" sz="11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Arial"/>
              <a:buChar char="•"/>
            </a:pPr>
            <a:r>
              <a:rPr b="1" i="0" lang="en-US" sz="11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Doan Trong Khoi (SE141053) — </a:t>
            </a:r>
            <a:r>
              <a:rPr b="0" i="0" lang="en-US" sz="11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Back-end 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Arial"/>
              <a:buChar char="•"/>
            </a:pPr>
            <a:r>
              <a:rPr b="1" i="0" lang="en-US" sz="11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Tran Trong Nhan (SE171973) — </a:t>
            </a:r>
            <a:r>
              <a:rPr b="0" i="0" lang="en-US" sz="11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Front-end 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BEAFE"/>
                </a:solidFill>
                <a:latin typeface="Arial"/>
                <a:ea typeface="Arial"/>
                <a:cs typeface="Arial"/>
                <a:sym typeface="Arial"/>
              </a:rPr>
              <a:t>Supervisor: </a:t>
            </a:r>
            <a:r>
              <a:rPr b="0" i="0" lang="en-US" sz="1200" u="none" cap="none" strike="noStrike">
                <a:solidFill>
                  <a:srgbClr val="DBEAFE"/>
                </a:solidFill>
                <a:latin typeface="Arial"/>
                <a:ea typeface="Arial"/>
                <a:cs typeface="Arial"/>
                <a:sym typeface="Arial"/>
              </a:rPr>
              <a:t>Ngo Dang Ha An 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"/>
          <p:cNvSpPr/>
          <p:nvPr/>
        </p:nvSpPr>
        <p:spPr>
          <a:xfrm>
            <a:off x="9700000" y="330000"/>
            <a:ext cx="2400000" cy="2400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5400">
            <a:solidFill>
              <a:srgbClr val="60A5FA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5"/>
          <p:cNvSpPr/>
          <p:nvPr/>
        </p:nvSpPr>
        <p:spPr>
          <a:xfrm>
            <a:off x="10250000" y="1000000"/>
            <a:ext cx="1750000" cy="1750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5400">
            <a:solidFill>
              <a:srgbClr val="2DD4B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/>
        </p:nvSpPr>
        <p:spPr>
          <a:xfrm>
            <a:off x="411480" y="292608"/>
            <a:ext cx="50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 txBox="1"/>
          <p:nvPr/>
        </p:nvSpPr>
        <p:spPr>
          <a:xfrm>
            <a:off x="960120" y="176000"/>
            <a:ext cx="107322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6"/>
          <p:cNvSpPr txBox="1"/>
          <p:nvPr/>
        </p:nvSpPr>
        <p:spPr>
          <a:xfrm>
            <a:off x="960120" y="560000"/>
            <a:ext cx="10732200" cy="249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Structured in alignment with the Capstone Assessment Criteria</a:t>
            </a:r>
            <a:endParaRPr b="0" i="0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p6"/>
          <p:cNvCxnSpPr/>
          <p:nvPr/>
        </p:nvCxnSpPr>
        <p:spPr>
          <a:xfrm>
            <a:off x="411480" y="960120"/>
            <a:ext cx="113844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6"/>
          <p:cNvSpPr txBox="1"/>
          <p:nvPr/>
        </p:nvSpPr>
        <p:spPr>
          <a:xfrm>
            <a:off x="411480" y="6537960"/>
            <a:ext cx="640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6"/>
          <p:cNvGrpSpPr/>
          <p:nvPr/>
        </p:nvGrpSpPr>
        <p:grpSpPr>
          <a:xfrm>
            <a:off x="666750" y="1238250"/>
            <a:ext cx="10858650" cy="4476750"/>
            <a:chOff x="666750" y="1238250"/>
            <a:chExt cx="10858650" cy="4476750"/>
          </a:xfrm>
        </p:grpSpPr>
        <p:grpSp>
          <p:nvGrpSpPr>
            <p:cNvPr id="33" name="Google Shape;33;p6"/>
            <p:cNvGrpSpPr/>
            <p:nvPr/>
          </p:nvGrpSpPr>
          <p:grpSpPr>
            <a:xfrm>
              <a:off x="666750" y="1238250"/>
              <a:ext cx="2571900" cy="2095500"/>
              <a:chOff x="0" y="0"/>
              <a:chExt cx="2571900" cy="2095500"/>
            </a:xfrm>
          </p:grpSpPr>
          <p:sp>
            <p:nvSpPr>
              <p:cNvPr id="34" name="Google Shape;34;p6"/>
              <p:cNvSpPr/>
              <p:nvPr/>
            </p:nvSpPr>
            <p:spPr>
              <a:xfrm>
                <a:off x="0" y="0"/>
                <a:ext cx="2571900" cy="2095500"/>
              </a:xfrm>
              <a:prstGeom prst="roundRect">
                <a:avLst>
                  <a:gd fmla="val 545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6"/>
              <p:cNvSpPr/>
              <p:nvPr/>
            </p:nvSpPr>
            <p:spPr>
              <a:xfrm>
                <a:off x="0" y="0"/>
                <a:ext cx="25719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6"/>
              <p:cNvSpPr/>
              <p:nvPr/>
            </p:nvSpPr>
            <p:spPr>
              <a:xfrm>
                <a:off x="219075" y="266700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6"/>
              <p:cNvSpPr txBox="1"/>
              <p:nvPr/>
            </p:nvSpPr>
            <p:spPr>
              <a:xfrm>
                <a:off x="219075" y="266700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b="1" sz="13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6"/>
              <p:cNvSpPr txBox="1"/>
              <p:nvPr/>
            </p:nvSpPr>
            <p:spPr>
              <a:xfrm>
                <a:off x="2000250" y="375031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94A3B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article</a:t>
                </a:r>
                <a:endParaRPr sz="22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9" name="Google Shape;39;p6"/>
              <p:cNvSpPr txBox="1"/>
              <p:nvPr/>
            </p:nvSpPr>
            <p:spPr>
              <a:xfrm>
                <a:off x="228600" y="809625"/>
                <a:ext cx="2114700" cy="1190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50">
                    <a:solidFill>
                      <a:srgbClr val="17324D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Context &amp; Aviation Regulations</a:t>
                </a:r>
                <a:endParaRPr b="1" i="0" sz="1250">
                  <a:solidFill>
                    <a:srgbClr val="17324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en-US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ICAO Annex 1, CAAV Part 10 &amp; 3-phase training.</a:t>
                </a:r>
                <a:endParaRPr b="0" i="0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" name="Google Shape;40;p6"/>
            <p:cNvGrpSpPr/>
            <p:nvPr/>
          </p:nvGrpSpPr>
          <p:grpSpPr>
            <a:xfrm>
              <a:off x="3429000" y="1238250"/>
              <a:ext cx="2571900" cy="2095500"/>
              <a:chOff x="0" y="0"/>
              <a:chExt cx="2571900" cy="2095500"/>
            </a:xfrm>
          </p:grpSpPr>
          <p:sp>
            <p:nvSpPr>
              <p:cNvPr id="41" name="Google Shape;41;p6"/>
              <p:cNvSpPr/>
              <p:nvPr/>
            </p:nvSpPr>
            <p:spPr>
              <a:xfrm>
                <a:off x="0" y="0"/>
                <a:ext cx="2571900" cy="2095500"/>
              </a:xfrm>
              <a:prstGeom prst="roundRect">
                <a:avLst>
                  <a:gd fmla="val 545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6"/>
              <p:cNvSpPr/>
              <p:nvPr/>
            </p:nvSpPr>
            <p:spPr>
              <a:xfrm>
                <a:off x="0" y="0"/>
                <a:ext cx="25719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6"/>
              <p:cNvSpPr/>
              <p:nvPr/>
            </p:nvSpPr>
            <p:spPr>
              <a:xfrm>
                <a:off x="219075" y="266700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6"/>
              <p:cNvSpPr txBox="1"/>
              <p:nvPr/>
            </p:nvSpPr>
            <p:spPr>
              <a:xfrm>
                <a:off x="219075" y="266700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 b="1" sz="13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6"/>
              <p:cNvSpPr txBox="1"/>
              <p:nvPr/>
            </p:nvSpPr>
            <p:spPr>
              <a:xfrm>
                <a:off x="2000250" y="375031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94A3B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report_problem</a:t>
                </a:r>
                <a:endParaRPr sz="22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6" name="Google Shape;46;p6"/>
              <p:cNvSpPr txBox="1"/>
              <p:nvPr/>
            </p:nvSpPr>
            <p:spPr>
              <a:xfrm>
                <a:off x="228600" y="809625"/>
                <a:ext cx="2114700" cy="1190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50">
                    <a:solidFill>
                      <a:srgbClr val="17324D"/>
                    </a:solidFill>
                    <a:latin typeface="Arial"/>
                    <a:ea typeface="Arial"/>
                    <a:cs typeface="Arial"/>
                    <a:sym typeface="Arial"/>
                  </a:rPr>
                  <a:t>Problem Statement &amp; Industry Pain Points</a:t>
                </a:r>
                <a:endParaRPr b="1" i="0" sz="1250">
                  <a:solidFill>
                    <a:srgbClr val="17324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en-US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4 critical vulnerabilities in manual tracking.</a:t>
                </a:r>
                <a:endParaRPr b="0" i="0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" name="Google Shape;47;p6"/>
            <p:cNvGrpSpPr/>
            <p:nvPr/>
          </p:nvGrpSpPr>
          <p:grpSpPr>
            <a:xfrm>
              <a:off x="6191250" y="1238250"/>
              <a:ext cx="2571900" cy="2095500"/>
              <a:chOff x="0" y="0"/>
              <a:chExt cx="2571900" cy="20955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0" y="0"/>
                <a:ext cx="2571900" cy="2095500"/>
              </a:xfrm>
              <a:prstGeom prst="roundRect">
                <a:avLst>
                  <a:gd fmla="val 545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6"/>
              <p:cNvSpPr/>
              <p:nvPr/>
            </p:nvSpPr>
            <p:spPr>
              <a:xfrm>
                <a:off x="0" y="0"/>
                <a:ext cx="25719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6"/>
              <p:cNvSpPr/>
              <p:nvPr/>
            </p:nvSpPr>
            <p:spPr>
              <a:xfrm>
                <a:off x="219075" y="266700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6"/>
              <p:cNvSpPr txBox="1"/>
              <p:nvPr/>
            </p:nvSpPr>
            <p:spPr>
              <a:xfrm>
                <a:off x="219075" y="266700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b="1" sz="13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6"/>
              <p:cNvSpPr txBox="1"/>
              <p:nvPr/>
            </p:nvSpPr>
            <p:spPr>
              <a:xfrm>
                <a:off x="2000250" y="375031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94A3B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lightbulb</a:t>
                </a:r>
                <a:endParaRPr sz="22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53" name="Google Shape;53;p6"/>
              <p:cNvSpPr txBox="1"/>
              <p:nvPr/>
            </p:nvSpPr>
            <p:spPr>
              <a:xfrm>
                <a:off x="228600" y="809625"/>
                <a:ext cx="2114700" cy="1190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50">
                    <a:solidFill>
                      <a:srgbClr val="17324D"/>
                    </a:solidFill>
                    <a:latin typeface="Arial"/>
                    <a:ea typeface="Arial"/>
                    <a:cs typeface="Arial"/>
                    <a:sym typeface="Arial"/>
                  </a:rPr>
                  <a:t>Solution &amp; Core Value Proposition</a:t>
                </a:r>
                <a:endParaRPr b="1" i="0" sz="1250">
                  <a:solidFill>
                    <a:srgbClr val="17324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en-US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Architectural transformation &amp; tamper-evident ETR.</a:t>
                </a:r>
                <a:endParaRPr b="0" i="0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" name="Google Shape;54;p6"/>
            <p:cNvGrpSpPr/>
            <p:nvPr/>
          </p:nvGrpSpPr>
          <p:grpSpPr>
            <a:xfrm>
              <a:off x="8953500" y="1238250"/>
              <a:ext cx="2571900" cy="2095500"/>
              <a:chOff x="0" y="0"/>
              <a:chExt cx="2571900" cy="2095500"/>
            </a:xfrm>
          </p:grpSpPr>
          <p:sp>
            <p:nvSpPr>
              <p:cNvPr id="55" name="Google Shape;55;p6"/>
              <p:cNvSpPr/>
              <p:nvPr/>
            </p:nvSpPr>
            <p:spPr>
              <a:xfrm>
                <a:off x="0" y="0"/>
                <a:ext cx="2571900" cy="2095500"/>
              </a:xfrm>
              <a:prstGeom prst="roundRect">
                <a:avLst>
                  <a:gd fmla="val 545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6"/>
              <p:cNvSpPr/>
              <p:nvPr/>
            </p:nvSpPr>
            <p:spPr>
              <a:xfrm>
                <a:off x="0" y="0"/>
                <a:ext cx="25719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6"/>
              <p:cNvSpPr/>
              <p:nvPr/>
            </p:nvSpPr>
            <p:spPr>
              <a:xfrm>
                <a:off x="219075" y="266700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6"/>
              <p:cNvSpPr txBox="1"/>
              <p:nvPr/>
            </p:nvSpPr>
            <p:spPr>
              <a:xfrm>
                <a:off x="219075" y="266700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04</a:t>
                </a:r>
                <a:endParaRPr b="1" sz="13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6"/>
              <p:cNvSpPr txBox="1"/>
              <p:nvPr/>
            </p:nvSpPr>
            <p:spPr>
              <a:xfrm>
                <a:off x="2000250" y="375031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94A3B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account_tree</a:t>
                </a:r>
                <a:endParaRPr sz="22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60" name="Google Shape;60;p6"/>
              <p:cNvSpPr txBox="1"/>
              <p:nvPr/>
            </p:nvSpPr>
            <p:spPr>
              <a:xfrm>
                <a:off x="228600" y="809625"/>
                <a:ext cx="2114700" cy="1190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50">
                    <a:solidFill>
                      <a:srgbClr val="17324D"/>
                    </a:solidFill>
                    <a:latin typeface="Arial"/>
                    <a:ea typeface="Arial"/>
                    <a:cs typeface="Arial"/>
                    <a:sym typeface="Arial"/>
                  </a:rPr>
                  <a:t>Functional Requirements &amp; Use Cases</a:t>
                </a:r>
                <a:endParaRPr b="1" i="0" sz="1250">
                  <a:solidFill>
                    <a:srgbClr val="17324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en-US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7 Roles (SoD), 12 Macro Flows, 68 Use Cases.</a:t>
                </a:r>
                <a:endParaRPr b="0" i="0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" name="Google Shape;61;p6"/>
            <p:cNvGrpSpPr/>
            <p:nvPr/>
          </p:nvGrpSpPr>
          <p:grpSpPr>
            <a:xfrm>
              <a:off x="666750" y="3619500"/>
              <a:ext cx="3429000" cy="2095500"/>
              <a:chOff x="0" y="0"/>
              <a:chExt cx="3429000" cy="2095500"/>
            </a:xfrm>
          </p:grpSpPr>
          <p:sp>
            <p:nvSpPr>
              <p:cNvPr id="62" name="Google Shape;62;p6"/>
              <p:cNvSpPr/>
              <p:nvPr/>
            </p:nvSpPr>
            <p:spPr>
              <a:xfrm>
                <a:off x="0" y="0"/>
                <a:ext cx="3429000" cy="2095500"/>
              </a:xfrm>
              <a:prstGeom prst="roundRect">
                <a:avLst>
                  <a:gd fmla="val 545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6"/>
              <p:cNvSpPr/>
              <p:nvPr/>
            </p:nvSpPr>
            <p:spPr>
              <a:xfrm>
                <a:off x="0" y="0"/>
                <a:ext cx="34290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6"/>
              <p:cNvSpPr/>
              <p:nvPr/>
            </p:nvSpPr>
            <p:spPr>
              <a:xfrm>
                <a:off x="266700" y="266700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6"/>
              <p:cNvSpPr txBox="1"/>
              <p:nvPr/>
            </p:nvSpPr>
            <p:spPr>
              <a:xfrm>
                <a:off x="266700" y="266700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05</a:t>
                </a:r>
                <a:endParaRPr b="1" sz="13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6"/>
              <p:cNvSpPr txBox="1"/>
              <p:nvPr/>
            </p:nvSpPr>
            <p:spPr>
              <a:xfrm>
                <a:off x="2857500" y="375031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94A3B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rule</a:t>
                </a:r>
                <a:endParaRPr sz="22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67" name="Google Shape;67;p6"/>
              <p:cNvSpPr txBox="1"/>
              <p:nvPr/>
            </p:nvSpPr>
            <p:spPr>
              <a:xfrm>
                <a:off x="266700" y="809625"/>
                <a:ext cx="2895600" cy="1190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300">
                    <a:solidFill>
                      <a:srgbClr val="17324D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Boundaries (In-Scope vs. Out-of-Scope)</a:t>
                </a:r>
                <a:endParaRPr b="1" i="0" sz="1300">
                  <a:solidFill>
                    <a:srgbClr val="17324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en-US" sz="10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35 delivered features vs. exclusions.</a:t>
                </a:r>
                <a:endParaRPr b="0" i="0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6"/>
            <p:cNvGrpSpPr/>
            <p:nvPr/>
          </p:nvGrpSpPr>
          <p:grpSpPr>
            <a:xfrm>
              <a:off x="4381500" y="3619500"/>
              <a:ext cx="3429000" cy="2095500"/>
              <a:chOff x="0" y="0"/>
              <a:chExt cx="3429000" cy="2095500"/>
            </a:xfrm>
          </p:grpSpPr>
          <p:sp>
            <p:nvSpPr>
              <p:cNvPr id="69" name="Google Shape;69;p6"/>
              <p:cNvSpPr/>
              <p:nvPr/>
            </p:nvSpPr>
            <p:spPr>
              <a:xfrm>
                <a:off x="0" y="0"/>
                <a:ext cx="3429000" cy="2095500"/>
              </a:xfrm>
              <a:prstGeom prst="roundRect">
                <a:avLst>
                  <a:gd fmla="val 545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6"/>
              <p:cNvSpPr/>
              <p:nvPr/>
            </p:nvSpPr>
            <p:spPr>
              <a:xfrm>
                <a:off x="0" y="0"/>
                <a:ext cx="34290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6"/>
              <p:cNvSpPr/>
              <p:nvPr/>
            </p:nvSpPr>
            <p:spPr>
              <a:xfrm>
                <a:off x="266700" y="266700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6"/>
              <p:cNvSpPr txBox="1"/>
              <p:nvPr/>
            </p:nvSpPr>
            <p:spPr>
              <a:xfrm>
                <a:off x="266700" y="266700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06</a:t>
                </a:r>
                <a:endParaRPr b="1" sz="13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6"/>
              <p:cNvSpPr txBox="1"/>
              <p:nvPr/>
            </p:nvSpPr>
            <p:spPr>
              <a:xfrm>
                <a:off x="2857500" y="375031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94A3B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developer_board</a:t>
                </a:r>
                <a:endParaRPr sz="22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74" name="Google Shape;74;p6"/>
              <p:cNvSpPr txBox="1"/>
              <p:nvPr/>
            </p:nvSpPr>
            <p:spPr>
              <a:xfrm>
                <a:off x="266700" y="809625"/>
                <a:ext cx="2895600" cy="1190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300">
                    <a:solidFill>
                      <a:srgbClr val="17324D"/>
                    </a:solidFill>
                    <a:latin typeface="Arial"/>
                    <a:ea typeface="Arial"/>
                    <a:cs typeface="Arial"/>
                    <a:sym typeface="Arial"/>
                  </a:rPr>
                  <a:t>System Architecture &amp; Technology Stack</a:t>
                </a:r>
                <a:endParaRPr b="1" i="0" sz="1300">
                  <a:solidFill>
                    <a:srgbClr val="17324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en-US" sz="10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Clean Architecture, Zero-Trust &amp; Cloudinary.</a:t>
                </a:r>
                <a:endParaRPr b="0" i="0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" name="Google Shape;75;p6"/>
            <p:cNvGrpSpPr/>
            <p:nvPr/>
          </p:nvGrpSpPr>
          <p:grpSpPr>
            <a:xfrm>
              <a:off x="8096250" y="3619500"/>
              <a:ext cx="3429000" cy="2095500"/>
              <a:chOff x="0" y="0"/>
              <a:chExt cx="3429000" cy="2095500"/>
            </a:xfrm>
          </p:grpSpPr>
          <p:sp>
            <p:nvSpPr>
              <p:cNvPr id="76" name="Google Shape;76;p6"/>
              <p:cNvSpPr/>
              <p:nvPr/>
            </p:nvSpPr>
            <p:spPr>
              <a:xfrm>
                <a:off x="0" y="0"/>
                <a:ext cx="3429000" cy="2095500"/>
              </a:xfrm>
              <a:prstGeom prst="roundRect">
                <a:avLst>
                  <a:gd fmla="val 545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6"/>
              <p:cNvSpPr/>
              <p:nvPr/>
            </p:nvSpPr>
            <p:spPr>
              <a:xfrm>
                <a:off x="0" y="0"/>
                <a:ext cx="34290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6"/>
              <p:cNvSpPr/>
              <p:nvPr/>
            </p:nvSpPr>
            <p:spPr>
              <a:xfrm>
                <a:off x="266700" y="266700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6"/>
              <p:cNvSpPr txBox="1"/>
              <p:nvPr/>
            </p:nvSpPr>
            <p:spPr>
              <a:xfrm>
                <a:off x="266700" y="266700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07</a:t>
                </a:r>
                <a:endParaRPr b="1" sz="13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6"/>
              <p:cNvSpPr txBox="1"/>
              <p:nvPr/>
            </p:nvSpPr>
            <p:spPr>
              <a:xfrm>
                <a:off x="2857500" y="375031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94A3B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play_circle_filled</a:t>
                </a:r>
                <a:endParaRPr sz="22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81" name="Google Shape;81;p6"/>
              <p:cNvSpPr txBox="1"/>
              <p:nvPr/>
            </p:nvSpPr>
            <p:spPr>
              <a:xfrm>
                <a:off x="266700" y="809625"/>
                <a:ext cx="2895600" cy="1190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300">
                    <a:solidFill>
                      <a:srgbClr val="17324D"/>
                    </a:solidFill>
                    <a:latin typeface="Arial"/>
                    <a:ea typeface="Arial"/>
                    <a:cs typeface="Arial"/>
                    <a:sym typeface="Arial"/>
                  </a:rPr>
                  <a:t>Live Demonstration &amp; Quality Assurance</a:t>
                </a:r>
                <a:endParaRPr b="1" i="0" sz="1300">
                  <a:solidFill>
                    <a:srgbClr val="17324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en-US" sz="10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6 End-to-end flows, 235 tests (100% pass).</a:t>
                </a:r>
                <a:endParaRPr b="0" i="0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/>
          <p:nvPr/>
        </p:nvSpPr>
        <p:spPr>
          <a:xfrm>
            <a:off x="411480" y="292608"/>
            <a:ext cx="50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960120" y="176000"/>
            <a:ext cx="107322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7324D"/>
                </a:solidFill>
              </a:rPr>
              <a:t>Context / Background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7"/>
          <p:cNvCxnSpPr/>
          <p:nvPr/>
        </p:nvCxnSpPr>
        <p:spPr>
          <a:xfrm>
            <a:off x="411480" y="960120"/>
            <a:ext cx="113844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7"/>
          <p:cNvSpPr txBox="1"/>
          <p:nvPr/>
        </p:nvSpPr>
        <p:spPr>
          <a:xfrm>
            <a:off x="960120" y="560000"/>
            <a:ext cx="10732200" cy="249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Strict regulatory environment governing pilot and aviation personnel training</a:t>
            </a:r>
            <a:endParaRPr b="0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/>
          <p:nvPr/>
        </p:nvSpPr>
        <p:spPr>
          <a:xfrm>
            <a:off x="411480" y="6537960"/>
            <a:ext cx="640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Google Shape;91;p7"/>
          <p:cNvGrpSpPr/>
          <p:nvPr/>
        </p:nvGrpSpPr>
        <p:grpSpPr>
          <a:xfrm>
            <a:off x="411480" y="1181100"/>
            <a:ext cx="5524500" cy="2381400"/>
            <a:chOff x="0" y="0"/>
            <a:chExt cx="5524500" cy="2381400"/>
          </a:xfrm>
        </p:grpSpPr>
        <p:sp>
          <p:nvSpPr>
            <p:cNvPr id="92" name="Google Shape;92;p7"/>
            <p:cNvSpPr/>
            <p:nvPr/>
          </p:nvSpPr>
          <p:spPr>
            <a:xfrm>
              <a:off x="0" y="0"/>
              <a:ext cx="5524500" cy="23814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0" y="0"/>
              <a:ext cx="55245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228600" y="228600"/>
              <a:ext cx="419100" cy="4191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7"/>
            <p:cNvSpPr txBox="1"/>
            <p:nvPr/>
          </p:nvSpPr>
          <p:spPr>
            <a:xfrm>
              <a:off x="228600" y="2286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3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7"/>
            <p:cNvSpPr txBox="1"/>
            <p:nvPr/>
          </p:nvSpPr>
          <p:spPr>
            <a:xfrm>
              <a:off x="4953000" y="298831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b="0" sz="22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7" name="Google Shape;97;p7"/>
            <p:cNvSpPr txBox="1"/>
            <p:nvPr/>
          </p:nvSpPr>
          <p:spPr>
            <a:xfrm>
              <a:off x="228600" y="781050"/>
              <a:ext cx="5067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7324D"/>
                  </a:solidFill>
                  <a:latin typeface="Arial"/>
                  <a:ea typeface="Arial"/>
                  <a:cs typeface="Arial"/>
                  <a:sym typeface="Arial"/>
                </a:rPr>
                <a:t>Stringent Aviation Standards</a:t>
              </a:r>
              <a:endParaRPr b="1" sz="13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Highly regulated domain governed by </a:t>
              </a: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CAAV Part 10</a:t>
              </a: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ICAO Annex 1</a:t>
              </a: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FAA Part 141</a:t>
              </a: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, and </a:t>
              </a: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EASA</a:t>
              </a: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" name="Google Shape;98;p7"/>
          <p:cNvGrpSpPr/>
          <p:nvPr/>
        </p:nvGrpSpPr>
        <p:grpSpPr>
          <a:xfrm>
            <a:off x="6271260" y="1181100"/>
            <a:ext cx="5524500" cy="2381400"/>
            <a:chOff x="0" y="0"/>
            <a:chExt cx="5524500" cy="2381400"/>
          </a:xfrm>
        </p:grpSpPr>
        <p:sp>
          <p:nvSpPr>
            <p:cNvPr id="99" name="Google Shape;99;p7"/>
            <p:cNvSpPr/>
            <p:nvPr/>
          </p:nvSpPr>
          <p:spPr>
            <a:xfrm>
              <a:off x="0" y="0"/>
              <a:ext cx="5524500" cy="23814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0" y="0"/>
              <a:ext cx="55245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228600" y="228600"/>
              <a:ext cx="419100" cy="4191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7"/>
            <p:cNvSpPr txBox="1"/>
            <p:nvPr/>
          </p:nvSpPr>
          <p:spPr>
            <a:xfrm>
              <a:off x="228600" y="2286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3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7"/>
            <p:cNvSpPr txBox="1"/>
            <p:nvPr/>
          </p:nvSpPr>
          <p:spPr>
            <a:xfrm>
              <a:off x="4953000" y="298831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flight_takeoff</a:t>
              </a:r>
              <a:endParaRPr b="0" sz="22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4" name="Google Shape;104;p7"/>
            <p:cNvSpPr txBox="1"/>
            <p:nvPr/>
          </p:nvSpPr>
          <p:spPr>
            <a:xfrm>
              <a:off x="228600" y="781050"/>
              <a:ext cx="5067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7324D"/>
                  </a:solidFill>
                  <a:latin typeface="Arial"/>
                  <a:ea typeface="Arial"/>
                  <a:cs typeface="Arial"/>
                  <a:sym typeface="Arial"/>
                </a:rPr>
                <a:t>3-Phase Training Lifecycle</a:t>
              </a:r>
              <a:endParaRPr b="1" sz="13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Continuous progression through </a:t>
              </a: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Ground School</a:t>
              </a: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(Lý thuyết) → </a:t>
              </a: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Simulator / SIM</a:t>
              </a: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(Mô phỏng buồng lái) → </a:t>
              </a: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Flight Operations</a:t>
              </a: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(Bay thực tế tích lũy giờ bay).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7"/>
          <p:cNvGrpSpPr/>
          <p:nvPr/>
        </p:nvGrpSpPr>
        <p:grpSpPr>
          <a:xfrm>
            <a:off x="411480" y="3829050"/>
            <a:ext cx="5524500" cy="2381400"/>
            <a:chOff x="0" y="0"/>
            <a:chExt cx="5524500" cy="2381400"/>
          </a:xfrm>
        </p:grpSpPr>
        <p:sp>
          <p:nvSpPr>
            <p:cNvPr id="106" name="Google Shape;106;p7"/>
            <p:cNvSpPr/>
            <p:nvPr/>
          </p:nvSpPr>
          <p:spPr>
            <a:xfrm>
              <a:off x="0" y="0"/>
              <a:ext cx="5524500" cy="23814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7"/>
            <p:cNvSpPr/>
            <p:nvPr/>
          </p:nvSpPr>
          <p:spPr>
            <a:xfrm>
              <a:off x="0" y="0"/>
              <a:ext cx="55245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28600" y="228600"/>
              <a:ext cx="419100" cy="4191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7"/>
            <p:cNvSpPr txBox="1"/>
            <p:nvPr/>
          </p:nvSpPr>
          <p:spPr>
            <a:xfrm>
              <a:off x="228600" y="2286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3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7"/>
            <p:cNvSpPr txBox="1"/>
            <p:nvPr/>
          </p:nvSpPr>
          <p:spPr>
            <a:xfrm>
              <a:off x="4953000" y="298831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inventory_2</a:t>
              </a:r>
              <a:endParaRPr b="0" sz="22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1" name="Google Shape;111;p7"/>
            <p:cNvSpPr txBox="1"/>
            <p:nvPr/>
          </p:nvSpPr>
          <p:spPr>
            <a:xfrm>
              <a:off x="228600" y="781050"/>
              <a:ext cx="5067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7324D"/>
                  </a:solidFill>
                  <a:latin typeface="Arial"/>
                  <a:ea typeface="Arial"/>
                  <a:cs typeface="Arial"/>
                  <a:sym typeface="Arial"/>
                </a:rPr>
                <a:t>Mandatory Record Retention</a:t>
              </a:r>
              <a:endParaRPr b="1" sz="13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International authorities mandate that all flight logs, attendance sheets, exam marks, instructor sign-offs, and licenses must be retained immutably for </a:t>
              </a: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5 to 10 years</a:t>
              </a: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for unannounced safety audits.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" name="Google Shape;112;p7"/>
          <p:cNvGrpSpPr/>
          <p:nvPr/>
        </p:nvGrpSpPr>
        <p:grpSpPr>
          <a:xfrm>
            <a:off x="6271260" y="3829050"/>
            <a:ext cx="5524500" cy="2381400"/>
            <a:chOff x="0" y="0"/>
            <a:chExt cx="5524500" cy="2381400"/>
          </a:xfrm>
        </p:grpSpPr>
        <p:sp>
          <p:nvSpPr>
            <p:cNvPr id="113" name="Google Shape;113;p7"/>
            <p:cNvSpPr/>
            <p:nvPr/>
          </p:nvSpPr>
          <p:spPr>
            <a:xfrm>
              <a:off x="0" y="0"/>
              <a:ext cx="5524500" cy="23814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0" y="0"/>
              <a:ext cx="5524500" cy="573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228600" y="228600"/>
              <a:ext cx="419100" cy="419100"/>
            </a:xfrm>
            <a:prstGeom prst="ellipse">
              <a:avLst/>
            </a:prstGeom>
            <a:solidFill>
              <a:srgbClr val="FEF2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7"/>
            <p:cNvSpPr txBox="1"/>
            <p:nvPr/>
          </p:nvSpPr>
          <p:spPr>
            <a:xfrm>
              <a:off x="228600" y="2286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3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7"/>
            <p:cNvSpPr txBox="1"/>
            <p:nvPr/>
          </p:nvSpPr>
          <p:spPr>
            <a:xfrm>
              <a:off x="4953000" y="298831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F8717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b="0" sz="2200">
                <a:solidFill>
                  <a:srgbClr val="F8717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8" name="Google Shape;118;p7"/>
            <p:cNvSpPr txBox="1"/>
            <p:nvPr/>
          </p:nvSpPr>
          <p:spPr>
            <a:xfrm>
              <a:off x="228600" y="781050"/>
              <a:ext cx="5067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7324D"/>
                  </a:solidFill>
                  <a:latin typeface="Arial"/>
                  <a:ea typeface="Arial"/>
                  <a:cs typeface="Arial"/>
                  <a:sym typeface="Arial"/>
                </a:rPr>
                <a:t>Industry Baseline</a:t>
              </a:r>
              <a:endParaRPr b="1" sz="13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Flight academies still rely on </a:t>
              </a: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physical paper logbooks</a:t>
              </a: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disconnected Excel files</a:t>
              </a: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, and </a:t>
              </a: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shared drives</a:t>
              </a: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—creating severe compliance risks.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Problem — Key Issues &amp; Impact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960120" y="560000"/>
            <a:ext cx="1073208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4748B"/>
                </a:solidFill>
              </a:rPr>
              <a:t>Critical gaps in traditional aviation training records and their compliance consequences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8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8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8" name="Google Shape;128;p8"/>
          <p:cNvGraphicFramePr/>
          <p:nvPr/>
        </p:nvGraphicFramePr>
        <p:xfrm>
          <a:off x="411480" y="11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{97B64184-6865-49B5-A5D8-91DD9C2925A0}</a:tableStyleId>
              </a:tblPr>
              <a:tblGrid>
                <a:gridCol w="3200000"/>
                <a:gridCol w="4300000"/>
                <a:gridCol w="3884275"/>
              </a:tblGrid>
              <a:tr h="44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Problem / Risk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Potential impact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</a:tr>
              <a:tr h="9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Fragmented Paper &amp; Spreadsheet Tracking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Training logs, flight hours, and test scores are scattered across paper logbooks, PDFs, and disconnected Excel files without centralized synchronization.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Breaches CAAV Part 10 / ICAO Annex 1 mandatory 5–10 year record retention.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High risk of lost flight histories during unannounced safety audits.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83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Attendance &amp; Score Tampering Risks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No time-bound enforcement or immutability; instructors can record 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backdated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 attendance or manipulate examination scores without an audit trail.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Ineligible trainees may bypass flight safety prerequisites.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Direct threat to flight safety; potential revocation of flight school ATO license.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83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Lack of Segregation of Duties &amp; Tampered Evidence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Instructors evaluate, sign off, and self-approve training milestones without independent QA checks; scanned flight proofs can be easily forged or replaced.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Violates the fundamental Maker-Checker governance principle.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Unverifiable evidence authenticity during regulatory inspections.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9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Approval Bottlenecks &amp; Post-Signoff Vulnerability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Paper dossiers take 2–3 weeks to circulate through physical sign-offs; once signed, physical files can still be altered retroactively without detection.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Severe operational delays in pilot licensing and recurrent dispatching.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Lack of legal non-repudiation when flight records are challenged.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9" name="Google Shape;129;p8"/>
          <p:cNvSpPr/>
          <p:nvPr/>
        </p:nvSpPr>
        <p:spPr>
          <a:xfrm>
            <a:off x="411480" y="5380000"/>
            <a:ext cx="11384280" cy="700000"/>
          </a:xfrm>
          <a:prstGeom prst="roundRect">
            <a:avLst>
              <a:gd fmla="val 600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200000" spcFirstLastPara="1" rIns="200000" wrap="square" tIns="8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it matters: i</a:t>
            </a:r>
            <a:r>
              <a:rPr lang="en-US" sz="1150">
                <a:solidFill>
                  <a:schemeClr val="dk1"/>
                </a:solidFill>
              </a:rPr>
              <a:t>n high-consequence aviation training, administrative inefficiencies directly translate into regulatory non-compliance, license grounding, and critical flight safety risks.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7324D"/>
                </a:solidFill>
              </a:rPr>
              <a:t>Solution &amp; Core Features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960120" y="560000"/>
            <a:ext cx="1073208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4748B"/>
                </a:solidFill>
              </a:rPr>
              <a:t>Addressing aviation training pain points through a centralized, tamper-evident digital platform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9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9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9" name="Google Shape;139;p9"/>
          <p:cNvGraphicFramePr/>
          <p:nvPr/>
        </p:nvGraphicFramePr>
        <p:xfrm>
          <a:off x="411480" y="11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{97B64184-6865-49B5-A5D8-91DD9C2925A0}</a:tableStyleId>
              </a:tblPr>
              <a:tblGrid>
                <a:gridCol w="2600000"/>
                <a:gridCol w="5000000"/>
                <a:gridCol w="3784275"/>
              </a:tblGrid>
              <a:tr h="53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</a:rPr>
                        <a:t>Problem / Pain Point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</a:rPr>
                        <a:t>ETR System Solution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</a:rPr>
                        <a:t>Value &amp; Benefit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</a:tr>
              <a:tr h="94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Fragmented Paper &amp; Spreadsheet Tracking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Single Source of Truth &amp; Auto-provisioning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Centralized database for syllabus, classes, and sessions.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Auto-provisioning ETR dossier upon student enrollment.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100% end-to-end traceability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 across 3 phases (Ground, SIM, Flight).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Reduces audit dossier preparation time from 2 weeks to 3 seconds.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94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Attendance &amp; Score Tampering Risks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Enforced Gates &amp; Automated Audit Trail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48-Hour Grace Period locking instructor attendance input.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Passing Score Snapshot &amp; EF Core change-tracker interceptor.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Enforces 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80% attendance threshold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 before assessment entry.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Logs 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100% of mutations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 (OldValue → NewValue) with timestamp &amp; user ID.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94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Lack of Segregation of Duties &amp; Tampered Evidence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Maker-Checker Workflow &amp; SHA-256 Hashing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Hard separation: Instructor (Maker) vs. QA Specialist (Checker).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Cloudinary storage combined with cryptographic SHA-256 digest.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Zero conflict of interest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; independent verification for every flight milestone.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Tamper-evident guarantee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: Any modified file fails hash verification instantly.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94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Approval Bottlenecks &amp; Post-Signoff Vulnerability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Multi-Tier Digital Sign-Off &amp; Deep Freeze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3-tier sequential review (Instructor → QA → Training Manager).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Database-level immutable locking (IsLocked = true).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Accelerates approval turnaround 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from weeks to minutes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Absolute immutability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: Guarantees zero retroactive tampering after final sign-off.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9"/>
          <p:cNvSpPr/>
          <p:nvPr/>
        </p:nvSpPr>
        <p:spPr>
          <a:xfrm>
            <a:off x="411480" y="5600000"/>
            <a:ext cx="11384280" cy="620000"/>
          </a:xfrm>
          <a:prstGeom prst="roundRect">
            <a:avLst>
              <a:gd fmla="val 600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00" lIns="200000" spcFirstLastPara="1" rIns="200000" wrap="square" tIns="6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Key Value Proposition: </a:t>
            </a:r>
            <a:r>
              <a:rPr lang="en-US" sz="1100">
                <a:solidFill>
                  <a:schemeClr val="dk1"/>
                </a:solidFill>
              </a:rPr>
              <a:t>ETR delivers a secure, compliant, and zero-trust digital platform that guarantees data integrity, enforces strict aviation governance, and ensures instant audit readiness.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/>
        </p:nvSpPr>
        <p:spPr>
          <a:xfrm>
            <a:off x="411480" y="292608"/>
            <a:ext cx="50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100">
                <a:solidFill>
                  <a:srgbClr val="2563EB"/>
                </a:solidFill>
              </a:rPr>
              <a:t>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960120" y="176000"/>
            <a:ext cx="107322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7324D"/>
                </a:solidFill>
              </a:rPr>
              <a:t>Functional Requirements — System Stakeholders &amp; Roles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0"/>
          <p:cNvSpPr txBox="1"/>
          <p:nvPr/>
        </p:nvSpPr>
        <p:spPr>
          <a:xfrm>
            <a:off x="960120" y="560000"/>
            <a:ext cx="10732200" cy="249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Separation of Duties (SoD) enforced across 7 specialized user actors</a:t>
            </a:r>
            <a:endParaRPr b="0" i="0" sz="1100" u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10"/>
          <p:cNvCxnSpPr/>
          <p:nvPr/>
        </p:nvCxnSpPr>
        <p:spPr>
          <a:xfrm>
            <a:off x="411480" y="960120"/>
            <a:ext cx="113844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10"/>
          <p:cNvSpPr txBox="1"/>
          <p:nvPr/>
        </p:nvSpPr>
        <p:spPr>
          <a:xfrm>
            <a:off x="411480" y="6537960"/>
            <a:ext cx="640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411480" y="5600005"/>
            <a:ext cx="11384400" cy="620100"/>
          </a:xfrm>
          <a:prstGeom prst="roundRect">
            <a:avLst>
              <a:gd fmla="val 5999" name="adj"/>
            </a:avLst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975" lIns="200000" spcFirstLastPara="1" rIns="200000" wrap="square" tIns="59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Separation of Duties: </a:t>
            </a:r>
            <a:r>
              <a:rPr b="0" i="0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strictly enforced at the backend architecture level (middleware &amp; repositories), not merely by frontend conventions.</a:t>
            </a:r>
            <a:endParaRPr b="1" i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1" name="Google Shape;151;p10"/>
          <p:cNvGraphicFramePr/>
          <p:nvPr/>
        </p:nvGraphicFramePr>
        <p:xfrm>
          <a:off x="411480" y="11800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{97B64184-6865-49B5-A5D8-91DD9C2925A0}</a:tableStyleId>
              </a:tblPr>
              <a:tblGrid>
                <a:gridCol w="2600000"/>
                <a:gridCol w="5000000"/>
                <a:gridCol w="3784275"/>
              </a:tblGrid>
              <a:tr h="3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>
                          <a:solidFill>
                            <a:srgbClr val="FFFFFF"/>
                          </a:solidFill>
                          <a:highlight>
                            <a:srgbClr val="17324D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Actor / Stakeholder</a:t>
                      </a:r>
                      <a:endParaRPr b="1" i="0" sz="1050">
                        <a:solidFill>
                          <a:srgbClr val="FFFFFF"/>
                        </a:solidFill>
                        <a:highlight>
                          <a:srgbClr val="17324D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>
                          <a:solidFill>
                            <a:srgbClr val="FFFFFF"/>
                          </a:solidFill>
                          <a:highlight>
                            <a:srgbClr val="17324D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Operational Responsibilities</a:t>
                      </a:r>
                      <a:endParaRPr b="1" i="0" sz="1050">
                        <a:solidFill>
                          <a:srgbClr val="FFFFFF"/>
                        </a:solidFill>
                        <a:highlight>
                          <a:srgbClr val="17324D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>
                          <a:solidFill>
                            <a:srgbClr val="FFFFFF"/>
                          </a:solidFill>
                          <a:highlight>
                            <a:srgbClr val="17324D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Key System Permissions &amp; Enforcements</a:t>
                      </a:r>
                      <a:endParaRPr b="1" i="0" sz="1050">
                        <a:solidFill>
                          <a:srgbClr val="FFFFFF"/>
                        </a:solidFill>
                        <a:highlight>
                          <a:srgbClr val="17324D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324D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>
                          <a:solidFill>
                            <a:srgbClr val="000000"/>
                          </a:solidFill>
                          <a:highlight>
                            <a:srgbClr val="F1F5F9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Administrator</a:t>
                      </a:r>
                      <a:endParaRPr b="1" i="0" sz="1000">
                        <a:solidFill>
                          <a:srgbClr val="000000"/>
                        </a:solidFill>
                        <a:highlight>
                          <a:srgbClr val="F1F5F9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000000"/>
                          </a:solidFill>
                          <a:highlight>
                            <a:srgbClr val="F1F5F9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System governance, account provisioning, department setup.</a:t>
                      </a:r>
                      <a:endParaRPr b="0" i="0" sz="1000">
                        <a:solidFill>
                          <a:srgbClr val="000000"/>
                        </a:solidFill>
                        <a:highlight>
                          <a:srgbClr val="F1F5F9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000000"/>
                          </a:solidFill>
                          <a:highlight>
                            <a:srgbClr val="F1F5F9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Full RBAC management, view global Audit Logs, handle emergency unlock.</a:t>
                      </a:r>
                      <a:endParaRPr b="0" i="0" sz="1000">
                        <a:solidFill>
                          <a:srgbClr val="000000"/>
                        </a:solidFill>
                        <a:highlight>
                          <a:srgbClr val="F1F5F9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Academic Staff</a:t>
                      </a:r>
                      <a:endParaRPr b="1" i="0" sz="100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Syllabus management, cohort scheduling, student enrollment.</a:t>
                      </a:r>
                      <a:endParaRPr b="0" i="0" sz="100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CRUD courses/classes, assign instructors, batch import rosters via Excel.</a:t>
                      </a:r>
                      <a:endParaRPr b="0" i="0" sz="100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>
                          <a:solidFill>
                            <a:srgbClr val="000000"/>
                          </a:solidFill>
                          <a:highlight>
                            <a:srgbClr val="F1F5F9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Instructor</a:t>
                      </a:r>
                      <a:endParaRPr b="1" i="0" sz="1000">
                        <a:solidFill>
                          <a:srgbClr val="000000"/>
                        </a:solidFill>
                        <a:highlight>
                          <a:srgbClr val="F1F5F9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000000"/>
                          </a:solidFill>
                          <a:highlight>
                            <a:srgbClr val="F1F5F9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Session attendance, theory exam grading, practical flight checklists.</a:t>
                      </a:r>
                      <a:endParaRPr b="0" i="0" sz="1000">
                        <a:solidFill>
                          <a:srgbClr val="000000"/>
                        </a:solidFill>
                        <a:highlight>
                          <a:srgbClr val="F1F5F9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000000"/>
                          </a:solidFill>
                          <a:highlight>
                            <a:srgbClr val="F1F5F9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48h attendance window, input assessment scores, upload evidence, sign off.</a:t>
                      </a:r>
                      <a:endParaRPr b="0" i="0" sz="1000">
                        <a:solidFill>
                          <a:srgbClr val="000000"/>
                        </a:solidFill>
                        <a:highlight>
                          <a:srgbClr val="F1F5F9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QA Staff</a:t>
                      </a:r>
                      <a:endParaRPr b="1" i="0" sz="100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Independent quality review, compliance verification.</a:t>
                      </a:r>
                      <a:endParaRPr b="0" i="0" sz="100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Verify/reject evidence, review ETR dossiers, return for correction (Maker-Checker).</a:t>
                      </a:r>
                      <a:endParaRPr b="0" i="0" sz="100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>
                          <a:solidFill>
                            <a:srgbClr val="000000"/>
                          </a:solidFill>
                          <a:highlight>
                            <a:srgbClr val="F1F5F9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Manager</a:t>
                      </a:r>
                      <a:endParaRPr b="1" i="0" sz="1000">
                        <a:solidFill>
                          <a:srgbClr val="000000"/>
                        </a:solidFill>
                        <a:highlight>
                          <a:srgbClr val="F1F5F9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000000"/>
                          </a:solidFill>
                          <a:highlight>
                            <a:srgbClr val="F1F5F9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Final review of verified ETR dossiers, graduation decisions.</a:t>
                      </a:r>
                      <a:endParaRPr b="0" i="0" sz="1000">
                        <a:solidFill>
                          <a:srgbClr val="000000"/>
                        </a:solidFill>
                        <a:highlight>
                          <a:srgbClr val="F1F5F9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000000"/>
                          </a:solidFill>
                          <a:highlight>
                            <a:srgbClr val="F1F5F9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Approve and activate Deep Freeze (IsLocked = true), issue certificates.</a:t>
                      </a:r>
                      <a:endParaRPr b="0" i="0" sz="1000">
                        <a:solidFill>
                          <a:srgbClr val="000000"/>
                        </a:solidFill>
                        <a:highlight>
                          <a:srgbClr val="F1F5F9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Compliance Auditor</a:t>
                      </a:r>
                      <a:endParaRPr b="1" i="0" sz="100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Regulatory inspections (CAAV / FAA / EASA), safety audits.</a:t>
                      </a:r>
                      <a:endParaRPr b="0" i="0" sz="100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Read-only access: Search dossiers, inspect audit logs, export PDF/ZIP packages.</a:t>
                      </a:r>
                      <a:endParaRPr b="0" i="0" sz="100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>
                          <a:solidFill>
                            <a:srgbClr val="000000"/>
                          </a:solidFill>
                          <a:highlight>
                            <a:srgbClr val="F1F5F9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Student / Trainee</a:t>
                      </a:r>
                      <a:endParaRPr b="1" i="0" sz="1000">
                        <a:solidFill>
                          <a:srgbClr val="000000"/>
                        </a:solidFill>
                        <a:highlight>
                          <a:srgbClr val="F1F5F9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000000"/>
                          </a:solidFill>
                          <a:highlight>
                            <a:srgbClr val="F1F5F9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Track individual training progress, flight hours, and certificates.</a:t>
                      </a:r>
                      <a:endParaRPr b="0" i="0" sz="1000">
                        <a:solidFill>
                          <a:srgbClr val="000000"/>
                        </a:solidFill>
                        <a:highlight>
                          <a:srgbClr val="F1F5F9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000000"/>
                          </a:solidFill>
                          <a:highlight>
                            <a:srgbClr val="F1F5F9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Personal dashboard, view official ETR status, download certified transcripts.</a:t>
                      </a:r>
                      <a:endParaRPr b="0" i="0" sz="1000">
                        <a:solidFill>
                          <a:srgbClr val="000000"/>
                        </a:solidFill>
                        <a:highlight>
                          <a:srgbClr val="F1F5F9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100">
                <a:solidFill>
                  <a:srgbClr val="2563EB"/>
                </a:solidFill>
              </a:rPr>
              <a:t>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1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7324D"/>
                </a:solidFill>
              </a:rPr>
              <a:t>Functional Requirements — Use Cases &amp; Core Workflow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"/>
          <p:cNvSpPr txBox="1"/>
          <p:nvPr/>
        </p:nvSpPr>
        <p:spPr>
          <a:xfrm>
            <a:off x="960120" y="560000"/>
            <a:ext cx="1073208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4748B"/>
                </a:solidFill>
              </a:rPr>
              <a:t>End-to-end operational flow from syllabus setup to final certification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11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11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6478730" y="1110250"/>
            <a:ext cx="4284300" cy="213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0000" lIns="200000" spcFirstLastPara="1" rIns="200000" wrap="square" tIns="12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350">
                <a:solidFill>
                  <a:schemeClr val="dk1"/>
                </a:solidFill>
              </a:rPr>
              <a:t>Training Operations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4155"/>
                </a:solidFill>
              </a:rPr>
              <a:t>UC-04 Session Attendance Marking (80% Gate Check)</a:t>
            </a:r>
            <a:endParaRPr sz="1000">
              <a:solidFill>
                <a:srgbClr val="334155"/>
              </a:solidFill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4155"/>
                </a:solidFill>
              </a:rPr>
              <a:t>UC-05 Theory Score &amp; Practical Skill Checklist Grading</a:t>
            </a:r>
            <a:endParaRPr sz="1000">
              <a:solidFill>
                <a:srgbClr val="334155"/>
              </a:solidFill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4155"/>
                </a:solidFill>
              </a:rPr>
              <a:t>UC-06 Evidence Upload with SHA-256 Cryptographic Hashing</a:t>
            </a:r>
            <a:endParaRPr sz="1000">
              <a:solidFill>
                <a:srgbClr val="334155"/>
              </a:solidFill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1428980" y="1150275"/>
            <a:ext cx="4284300" cy="213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0000" lIns="200000" spcFirstLastPara="1" rIns="200000" wrap="square" tIns="12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350">
                <a:solidFill>
                  <a:schemeClr val="dk1"/>
                </a:solidFill>
              </a:rPr>
              <a:t>Academic Setup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4155"/>
                </a:solidFill>
              </a:rPr>
              <a:t>UC-01 Account &amp; Profile Management</a:t>
            </a:r>
            <a:endParaRPr sz="1000">
              <a:solidFill>
                <a:srgbClr val="334155"/>
              </a:solidFill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4155"/>
                </a:solidFill>
              </a:rPr>
              <a:t>UC-02 Syllabus &amp; Course Configuration</a:t>
            </a:r>
            <a:endParaRPr sz="1000">
              <a:solidFill>
                <a:srgbClr val="334155"/>
              </a:solidFill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4155"/>
                </a:solidFill>
              </a:rPr>
              <a:t>UC-03 Class Cohort Scheduling &amp; Excel Batch Import</a:t>
            </a:r>
            <a:endParaRPr sz="1000">
              <a:solidFill>
                <a:srgbClr val="334155"/>
              </a:solidFill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1428980" y="3620550"/>
            <a:ext cx="4284300" cy="213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0000" lIns="200000" spcFirstLastPara="1" rIns="200000" wrap="square" tIns="12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350">
                <a:solidFill>
                  <a:schemeClr val="dk1"/>
                </a:solidFill>
              </a:rPr>
              <a:t>Quality &amp; Approval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4155"/>
                </a:solidFill>
              </a:rPr>
              <a:t>UC-07 Subject Completion Sign-off (Record Locking)</a:t>
            </a:r>
            <a:endParaRPr sz="1000">
              <a:solidFill>
                <a:srgbClr val="334155"/>
              </a:solidFill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4155"/>
                </a:solidFill>
              </a:rPr>
              <a:t>UC-08 QA Evidence Verification &amp; Return Handling</a:t>
            </a:r>
            <a:endParaRPr sz="1000">
              <a:solidFill>
                <a:srgbClr val="334155"/>
              </a:solidFill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4155"/>
                </a:solidFill>
              </a:rPr>
              <a:t>UC-09 Training Manager Final Approval &amp; Certificate Granting</a:t>
            </a:r>
            <a:endParaRPr sz="1000">
              <a:solidFill>
                <a:srgbClr val="334155"/>
              </a:solidFill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6478730" y="3620550"/>
            <a:ext cx="4284300" cy="213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0000" lIns="200000" spcFirstLastPara="1" rIns="200000" wrap="square" tIns="12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350">
                <a:solidFill>
                  <a:schemeClr val="dk1"/>
                </a:solidFill>
              </a:rPr>
              <a:t>Auditing &amp; Tracking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4155"/>
                </a:solidFill>
              </a:rPr>
              <a:t>UC-10 Post-Approval Controlled Amendment Workflow</a:t>
            </a:r>
            <a:endParaRPr sz="1000">
              <a:solidFill>
                <a:srgbClr val="334155"/>
              </a:solidFill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4155"/>
                </a:solidFill>
              </a:rPr>
              <a:t>UC-11 Trainee Progress &amp; Digital Transcript Tracking</a:t>
            </a:r>
            <a:endParaRPr sz="1000">
              <a:solidFill>
                <a:srgbClr val="334155"/>
              </a:solidFill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4155"/>
                </a:solidFill>
              </a:rPr>
              <a:t>UC-12 Compliance Audit Trail &amp; SHA-256 Integrity Verification</a:t>
            </a:r>
            <a:endParaRPr sz="100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12"/>
          <p:cNvGrpSpPr/>
          <p:nvPr/>
        </p:nvGrpSpPr>
        <p:grpSpPr>
          <a:xfrm>
            <a:off x="411480" y="176022"/>
            <a:ext cx="11384400" cy="6526638"/>
            <a:chOff x="411480" y="176022"/>
            <a:chExt cx="11384400" cy="6526638"/>
          </a:xfrm>
        </p:grpSpPr>
        <p:sp>
          <p:nvSpPr>
            <p:cNvPr id="170" name="Google Shape;170;p12"/>
            <p:cNvSpPr txBox="1"/>
            <p:nvPr/>
          </p:nvSpPr>
          <p:spPr>
            <a:xfrm>
              <a:off x="411480" y="292608"/>
              <a:ext cx="5028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08</a:t>
              </a:r>
              <a:endParaRPr b="1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2"/>
            <p:cNvSpPr txBox="1"/>
            <p:nvPr/>
          </p:nvSpPr>
          <p:spPr>
            <a:xfrm>
              <a:off x="960120" y="176022"/>
              <a:ext cx="10732200" cy="3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20">
                  <a:solidFill>
                    <a:srgbClr val="17324D"/>
                  </a:solidFill>
                  <a:latin typeface="Arial"/>
                  <a:ea typeface="Arial"/>
                  <a:cs typeface="Arial"/>
                  <a:sym typeface="Arial"/>
                </a:rPr>
                <a:t>Main Functions Mapping</a:t>
              </a:r>
              <a:endParaRPr b="1" sz="222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2"/>
            <p:cNvSpPr txBox="1"/>
            <p:nvPr/>
          </p:nvSpPr>
          <p:spPr>
            <a:xfrm>
              <a:off x="960120" y="559975"/>
              <a:ext cx="10732200" cy="2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Feature groups mapped to the 68 Use Cases defined in SRS Report 3</a:t>
              </a:r>
              <a:endParaRPr b="0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3" name="Google Shape;173;p12"/>
            <p:cNvCxnSpPr/>
            <p:nvPr/>
          </p:nvCxnSpPr>
          <p:spPr>
            <a:xfrm>
              <a:off x="411480" y="960120"/>
              <a:ext cx="11384400" cy="0"/>
            </a:xfrm>
            <a:prstGeom prst="straightConnector1">
              <a:avLst/>
            </a:prstGeom>
            <a:solidFill>
              <a:srgbClr val="FFFFFF"/>
            </a:solidFill>
            <a:ln cap="flat" cmpd="sng" w="127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4" name="Google Shape;174;p12"/>
            <p:cNvSpPr/>
            <p:nvPr/>
          </p:nvSpPr>
          <p:spPr>
            <a:xfrm>
              <a:off x="411480" y="1143000"/>
              <a:ext cx="11384400" cy="400200"/>
            </a:xfrm>
            <a:prstGeom prst="roundRect">
              <a:avLst>
                <a:gd fmla="val 9523" name="adj"/>
              </a:avLst>
            </a:prstGeom>
            <a:solidFill>
              <a:srgbClr val="1732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2"/>
            <p:cNvSpPr txBox="1"/>
            <p:nvPr/>
          </p:nvSpPr>
          <p:spPr>
            <a:xfrm>
              <a:off x="601980" y="1143000"/>
              <a:ext cx="2095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Feature Group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2"/>
            <p:cNvSpPr txBox="1"/>
            <p:nvPr/>
          </p:nvSpPr>
          <p:spPr>
            <a:xfrm>
              <a:off x="2887980" y="1143000"/>
              <a:ext cx="4572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Core Capabilities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2"/>
            <p:cNvSpPr txBox="1"/>
            <p:nvPr/>
          </p:nvSpPr>
          <p:spPr>
            <a:xfrm>
              <a:off x="7650480" y="1143000"/>
              <a:ext cx="2095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SRS Use Cases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2"/>
            <p:cNvSpPr txBox="1"/>
            <p:nvPr/>
          </p:nvSpPr>
          <p:spPr>
            <a:xfrm>
              <a:off x="9936480" y="1143000"/>
              <a:ext cx="166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Primary Actor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9" name="Google Shape;179;p12"/>
            <p:cNvGrpSpPr/>
            <p:nvPr/>
          </p:nvGrpSpPr>
          <p:grpSpPr>
            <a:xfrm>
              <a:off x="411480" y="1619250"/>
              <a:ext cx="11384400" cy="552600"/>
              <a:chOff x="0" y="0"/>
              <a:chExt cx="11384400" cy="552600"/>
            </a:xfrm>
          </p:grpSpPr>
          <p:sp>
            <p:nvSpPr>
              <p:cNvPr id="180" name="Google Shape;180;p12"/>
              <p:cNvSpPr/>
              <p:nvPr/>
            </p:nvSpPr>
            <p:spPr>
              <a:xfrm>
                <a:off x="0" y="0"/>
                <a:ext cx="11384400" cy="552600"/>
              </a:xfrm>
              <a:prstGeom prst="roundRect">
                <a:avLst>
                  <a:gd fmla="val 68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2"/>
              <p:cNvSpPr txBox="1"/>
              <p:nvPr/>
            </p:nvSpPr>
            <p:spPr>
              <a:xfrm>
                <a:off x="190500" y="0"/>
                <a:ext cx="2095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System Administration</a:t>
                </a:r>
                <a:endParaRPr b="1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12"/>
              <p:cNvSpPr txBox="1"/>
              <p:nvPr/>
            </p:nvSpPr>
            <p:spPr>
              <a:xfrm>
                <a:off x="2476500" y="0"/>
                <a:ext cx="45720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Account lifecycle, RBAC roles, departments, system metrics.</a:t>
                </a:r>
                <a:endParaRPr b="0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12"/>
              <p:cNvSpPr txBox="1"/>
              <p:nvPr/>
            </p:nvSpPr>
            <p:spPr>
              <a:xfrm>
                <a:off x="7239000" y="0"/>
                <a:ext cx="2095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UC-48 → UC-55</a:t>
                </a:r>
                <a:endParaRPr b="1" sz="10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2"/>
              <p:cNvSpPr txBox="1"/>
              <p:nvPr/>
            </p:nvSpPr>
            <p:spPr>
              <a:xfrm>
                <a:off x="9525000" y="0"/>
                <a:ext cx="16689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Administrator</a:t>
                </a:r>
                <a:endParaRPr b="0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" name="Google Shape;185;p12"/>
            <p:cNvGrpSpPr/>
            <p:nvPr/>
          </p:nvGrpSpPr>
          <p:grpSpPr>
            <a:xfrm>
              <a:off x="411480" y="2219325"/>
              <a:ext cx="11384400" cy="552600"/>
              <a:chOff x="0" y="0"/>
              <a:chExt cx="11384400" cy="552600"/>
            </a:xfrm>
          </p:grpSpPr>
          <p:sp>
            <p:nvSpPr>
              <p:cNvPr id="186" name="Google Shape;186;p12"/>
              <p:cNvSpPr/>
              <p:nvPr/>
            </p:nvSpPr>
            <p:spPr>
              <a:xfrm>
                <a:off x="0" y="0"/>
                <a:ext cx="11384400" cy="552600"/>
              </a:xfrm>
              <a:prstGeom prst="roundRect">
                <a:avLst>
                  <a:gd fmla="val 6896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2"/>
              <p:cNvSpPr txBox="1"/>
              <p:nvPr/>
            </p:nvSpPr>
            <p:spPr>
              <a:xfrm>
                <a:off x="190500" y="0"/>
                <a:ext cx="2095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Curriculum &amp; Cohort</a:t>
                </a:r>
                <a:endParaRPr b="1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2"/>
              <p:cNvSpPr txBox="1"/>
              <p:nvPr/>
            </p:nvSpPr>
            <p:spPr>
              <a:xfrm>
                <a:off x="2476500" y="0"/>
                <a:ext cx="45720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Courses, subjects, classes, instructor assignments, retake policy.</a:t>
                </a:r>
                <a:endParaRPr b="0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12"/>
              <p:cNvSpPr txBox="1"/>
              <p:nvPr/>
            </p:nvSpPr>
            <p:spPr>
              <a:xfrm>
                <a:off x="7239000" y="0"/>
                <a:ext cx="2095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UC-02 → UC-09</a:t>
                </a:r>
                <a:endParaRPr b="1" sz="10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2"/>
              <p:cNvSpPr txBox="1"/>
              <p:nvPr/>
            </p:nvSpPr>
            <p:spPr>
              <a:xfrm>
                <a:off x="9525000" y="0"/>
                <a:ext cx="16689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Academic Staff</a:t>
                </a:r>
                <a:endParaRPr b="0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12"/>
            <p:cNvGrpSpPr/>
            <p:nvPr/>
          </p:nvGrpSpPr>
          <p:grpSpPr>
            <a:xfrm>
              <a:off x="411480" y="2819400"/>
              <a:ext cx="11384400" cy="552600"/>
              <a:chOff x="0" y="0"/>
              <a:chExt cx="11384400" cy="552600"/>
            </a:xfrm>
          </p:grpSpPr>
          <p:sp>
            <p:nvSpPr>
              <p:cNvPr id="192" name="Google Shape;192;p12"/>
              <p:cNvSpPr/>
              <p:nvPr/>
            </p:nvSpPr>
            <p:spPr>
              <a:xfrm>
                <a:off x="0" y="0"/>
                <a:ext cx="11384400" cy="552600"/>
              </a:xfrm>
              <a:prstGeom prst="roundRect">
                <a:avLst>
                  <a:gd fmla="val 68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2"/>
              <p:cNvSpPr txBox="1"/>
              <p:nvPr/>
            </p:nvSpPr>
            <p:spPr>
              <a:xfrm>
                <a:off x="190500" y="0"/>
                <a:ext cx="2095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ETR Lifecycle Management</a:t>
                </a:r>
                <a:endParaRPr b="1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2"/>
              <p:cNvSpPr txBox="1"/>
              <p:nvPr/>
            </p:nvSpPr>
            <p:spPr>
              <a:xfrm>
                <a:off x="2476500" y="0"/>
                <a:ext cx="45720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Auto-provision ETR on enrollment, 4 gate checks, submission.</a:t>
                </a:r>
                <a:endParaRPr b="0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2"/>
              <p:cNvSpPr txBox="1"/>
              <p:nvPr/>
            </p:nvSpPr>
            <p:spPr>
              <a:xfrm>
                <a:off x="7239000" y="0"/>
                <a:ext cx="2095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UC-07, UC-13, UC-14</a:t>
                </a:r>
                <a:endParaRPr b="1" sz="10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12"/>
              <p:cNvSpPr txBox="1"/>
              <p:nvPr/>
            </p:nvSpPr>
            <p:spPr>
              <a:xfrm>
                <a:off x="9525000" y="0"/>
                <a:ext cx="16689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Academic Staff</a:t>
                </a:r>
                <a:endParaRPr b="0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12"/>
            <p:cNvGrpSpPr/>
            <p:nvPr/>
          </p:nvGrpSpPr>
          <p:grpSpPr>
            <a:xfrm>
              <a:off x="411480" y="3419475"/>
              <a:ext cx="11384400" cy="552600"/>
              <a:chOff x="0" y="0"/>
              <a:chExt cx="11384400" cy="552600"/>
            </a:xfrm>
          </p:grpSpPr>
          <p:sp>
            <p:nvSpPr>
              <p:cNvPr id="198" name="Google Shape;198;p12"/>
              <p:cNvSpPr/>
              <p:nvPr/>
            </p:nvSpPr>
            <p:spPr>
              <a:xfrm>
                <a:off x="0" y="0"/>
                <a:ext cx="11384400" cy="552600"/>
              </a:xfrm>
              <a:prstGeom prst="roundRect">
                <a:avLst>
                  <a:gd fmla="val 6896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2"/>
              <p:cNvSpPr txBox="1"/>
              <p:nvPr/>
            </p:nvSpPr>
            <p:spPr>
              <a:xfrm>
                <a:off x="190500" y="0"/>
                <a:ext cx="2095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Attendance &amp; Grading</a:t>
                </a:r>
                <a:endParaRPr b="1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12"/>
              <p:cNvSpPr txBox="1"/>
              <p:nvPr/>
            </p:nvSpPr>
            <p:spPr>
              <a:xfrm>
                <a:off x="2476500" y="0"/>
                <a:ext cx="45720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48h session attendance, exam scores, practical checklist, sign-off.</a:t>
                </a:r>
                <a:endParaRPr b="0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12"/>
              <p:cNvSpPr txBox="1"/>
              <p:nvPr/>
            </p:nvSpPr>
            <p:spPr>
              <a:xfrm>
                <a:off x="7239000" y="0"/>
                <a:ext cx="2095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UC-17 → UC-21</a:t>
                </a:r>
                <a:endParaRPr b="1" sz="10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2"/>
              <p:cNvSpPr txBox="1"/>
              <p:nvPr/>
            </p:nvSpPr>
            <p:spPr>
              <a:xfrm>
                <a:off x="9525000" y="0"/>
                <a:ext cx="16689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Instructor</a:t>
                </a:r>
                <a:endParaRPr b="0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3" name="Google Shape;203;p12"/>
            <p:cNvGrpSpPr/>
            <p:nvPr/>
          </p:nvGrpSpPr>
          <p:grpSpPr>
            <a:xfrm>
              <a:off x="411480" y="4019550"/>
              <a:ext cx="11384400" cy="552600"/>
              <a:chOff x="0" y="0"/>
              <a:chExt cx="11384400" cy="552600"/>
            </a:xfrm>
          </p:grpSpPr>
          <p:sp>
            <p:nvSpPr>
              <p:cNvPr id="204" name="Google Shape;204;p12"/>
              <p:cNvSpPr/>
              <p:nvPr/>
            </p:nvSpPr>
            <p:spPr>
              <a:xfrm>
                <a:off x="0" y="0"/>
                <a:ext cx="11384400" cy="552600"/>
              </a:xfrm>
              <a:prstGeom prst="roundRect">
                <a:avLst>
                  <a:gd fmla="val 68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2"/>
              <p:cNvSpPr txBox="1"/>
              <p:nvPr/>
            </p:nvSpPr>
            <p:spPr>
              <a:xfrm>
                <a:off x="190500" y="0"/>
                <a:ext cx="2095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Evidence &amp; QA Verification</a:t>
                </a:r>
                <a:endParaRPr b="1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12"/>
              <p:cNvSpPr txBox="1"/>
              <p:nvPr/>
            </p:nvSpPr>
            <p:spPr>
              <a:xfrm>
                <a:off x="2476500" y="0"/>
                <a:ext cx="45720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Cloudinary upload, SHA-256 hashing, QA queue, return for correction.</a:t>
                </a:r>
                <a:endParaRPr b="0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2"/>
              <p:cNvSpPr txBox="1"/>
              <p:nvPr/>
            </p:nvSpPr>
            <p:spPr>
              <a:xfrm>
                <a:off x="7239000" y="0"/>
                <a:ext cx="2095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UC-22, UC-29 → UC-33</a:t>
                </a:r>
                <a:endParaRPr b="1" sz="10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2"/>
              <p:cNvSpPr txBox="1"/>
              <p:nvPr/>
            </p:nvSpPr>
            <p:spPr>
              <a:xfrm>
                <a:off x="9525000" y="0"/>
                <a:ext cx="16689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Instructor · QA Staff</a:t>
                </a:r>
                <a:endParaRPr b="0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9" name="Google Shape;209;p12"/>
            <p:cNvGrpSpPr/>
            <p:nvPr/>
          </p:nvGrpSpPr>
          <p:grpSpPr>
            <a:xfrm>
              <a:off x="411480" y="4619625"/>
              <a:ext cx="11384400" cy="552600"/>
              <a:chOff x="0" y="0"/>
              <a:chExt cx="11384400" cy="552600"/>
            </a:xfrm>
          </p:grpSpPr>
          <p:sp>
            <p:nvSpPr>
              <p:cNvPr id="210" name="Google Shape;210;p12"/>
              <p:cNvSpPr/>
              <p:nvPr/>
            </p:nvSpPr>
            <p:spPr>
              <a:xfrm>
                <a:off x="0" y="0"/>
                <a:ext cx="11384400" cy="552600"/>
              </a:xfrm>
              <a:prstGeom prst="roundRect">
                <a:avLst>
                  <a:gd fmla="val 6896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2"/>
              <p:cNvSpPr txBox="1"/>
              <p:nvPr/>
            </p:nvSpPr>
            <p:spPr>
              <a:xfrm>
                <a:off x="190500" y="0"/>
                <a:ext cx="2095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Approval &amp; Deep Freeze</a:t>
                </a:r>
                <a:endParaRPr b="1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2"/>
              <p:cNvSpPr txBox="1"/>
              <p:nvPr/>
            </p:nvSpPr>
            <p:spPr>
              <a:xfrm>
                <a:off x="2476500" y="0"/>
                <a:ext cx="45720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Dossier review, final approval, immutable freeze, break-glass unlock.</a:t>
                </a:r>
                <a:endParaRPr b="0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2"/>
              <p:cNvSpPr txBox="1"/>
              <p:nvPr/>
            </p:nvSpPr>
            <p:spPr>
              <a:xfrm>
                <a:off x="7239000" y="0"/>
                <a:ext cx="2095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UC-38 → UC-47</a:t>
                </a:r>
                <a:endParaRPr b="1" sz="10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2"/>
              <p:cNvSpPr txBox="1"/>
              <p:nvPr/>
            </p:nvSpPr>
            <p:spPr>
              <a:xfrm>
                <a:off x="9525000" y="0"/>
                <a:ext cx="16689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Training Manager</a:t>
                </a:r>
                <a:endParaRPr b="0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215;p12"/>
            <p:cNvGrpSpPr/>
            <p:nvPr/>
          </p:nvGrpSpPr>
          <p:grpSpPr>
            <a:xfrm>
              <a:off x="411480" y="5219700"/>
              <a:ext cx="11384400" cy="552600"/>
              <a:chOff x="0" y="0"/>
              <a:chExt cx="11384400" cy="552600"/>
            </a:xfrm>
          </p:grpSpPr>
          <p:sp>
            <p:nvSpPr>
              <p:cNvPr id="216" name="Google Shape;216;p12"/>
              <p:cNvSpPr/>
              <p:nvPr/>
            </p:nvSpPr>
            <p:spPr>
              <a:xfrm>
                <a:off x="0" y="0"/>
                <a:ext cx="11384400" cy="552600"/>
              </a:xfrm>
              <a:prstGeom prst="roundRect">
                <a:avLst>
                  <a:gd fmla="val 68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2"/>
              <p:cNvSpPr txBox="1"/>
              <p:nvPr/>
            </p:nvSpPr>
            <p:spPr>
              <a:xfrm>
                <a:off x="190500" y="0"/>
                <a:ext cx="2095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Audit, Search &amp; Export</a:t>
                </a:r>
                <a:endParaRPr b="1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2"/>
              <p:cNvSpPr txBox="1"/>
              <p:nvPr/>
            </p:nvSpPr>
            <p:spPr>
              <a:xfrm>
                <a:off x="2476500" y="0"/>
                <a:ext cx="45720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CAA audit package generation (PDF/ZIP), change log inspection.</a:t>
                </a:r>
                <a:endParaRPr b="0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2"/>
              <p:cNvSpPr txBox="1"/>
              <p:nvPr/>
            </p:nvSpPr>
            <p:spPr>
              <a:xfrm>
                <a:off x="7239000" y="0"/>
                <a:ext cx="2095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UC-62 → UC-68</a:t>
                </a:r>
                <a:endParaRPr b="1" sz="10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2"/>
              <p:cNvSpPr txBox="1"/>
              <p:nvPr/>
            </p:nvSpPr>
            <p:spPr>
              <a:xfrm>
                <a:off x="9525000" y="0"/>
                <a:ext cx="16689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Compliance Auditor</a:t>
                </a:r>
                <a:endParaRPr b="0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221;p12"/>
            <p:cNvGrpSpPr/>
            <p:nvPr/>
          </p:nvGrpSpPr>
          <p:grpSpPr>
            <a:xfrm>
              <a:off x="411480" y="5819775"/>
              <a:ext cx="11384400" cy="552600"/>
              <a:chOff x="0" y="0"/>
              <a:chExt cx="11384400" cy="552600"/>
            </a:xfrm>
          </p:grpSpPr>
          <p:sp>
            <p:nvSpPr>
              <p:cNvPr id="222" name="Google Shape;222;p12"/>
              <p:cNvSpPr/>
              <p:nvPr/>
            </p:nvSpPr>
            <p:spPr>
              <a:xfrm>
                <a:off x="0" y="0"/>
                <a:ext cx="11384400" cy="552600"/>
              </a:xfrm>
              <a:prstGeom prst="roundRect">
                <a:avLst>
                  <a:gd fmla="val 6896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2"/>
              <p:cNvSpPr txBox="1"/>
              <p:nvPr/>
            </p:nvSpPr>
            <p:spPr>
              <a:xfrm>
                <a:off x="190500" y="0"/>
                <a:ext cx="2095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Dashboards &amp; Recurrent</a:t>
                </a:r>
                <a:endParaRPr b="1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12"/>
              <p:cNvSpPr txBox="1"/>
              <p:nvPr/>
            </p:nvSpPr>
            <p:spPr>
              <a:xfrm>
                <a:off x="2476500" y="0"/>
                <a:ext cx="45720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Role-tailored KPI stats, pilot license validity, grounded status alerts.</a:t>
                </a:r>
                <a:endParaRPr b="0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12"/>
              <p:cNvSpPr txBox="1"/>
              <p:nvPr/>
            </p:nvSpPr>
            <p:spPr>
              <a:xfrm>
                <a:off x="7239000" y="0"/>
                <a:ext cx="2095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UC-01, UC-15, UC-56 → UC-61</a:t>
                </a:r>
                <a:endParaRPr b="1" sz="10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12"/>
              <p:cNvSpPr txBox="1"/>
              <p:nvPr/>
            </p:nvSpPr>
            <p:spPr>
              <a:xfrm>
                <a:off x="9525000" y="0"/>
                <a:ext cx="16689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All 7 Roles</a:t>
                </a:r>
                <a:endParaRPr b="0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7" name="Google Shape;227;p12"/>
            <p:cNvSpPr txBox="1"/>
            <p:nvPr/>
          </p:nvSpPr>
          <p:spPr>
            <a:xfrm>
              <a:off x="411480" y="6537960"/>
              <a:ext cx="64008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Electronic Training Record (ETR) • SU26SE104_GSU48</a:t>
              </a:r>
              <a:endParaRPr b="0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 txBox="1"/>
          <p:nvPr/>
        </p:nvSpPr>
        <p:spPr>
          <a:xfrm>
            <a:off x="411480" y="292608"/>
            <a:ext cx="50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100">
                <a:solidFill>
                  <a:srgbClr val="2563EB"/>
                </a:solidFill>
              </a:rPr>
              <a:t>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"/>
          <p:cNvSpPr txBox="1"/>
          <p:nvPr/>
        </p:nvSpPr>
        <p:spPr>
          <a:xfrm>
            <a:off x="960120" y="176000"/>
            <a:ext cx="107322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7324D"/>
                </a:solidFill>
              </a:rPr>
              <a:t>Project Scope — In-Scope vs. Out-of-Scope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960120" y="560000"/>
            <a:ext cx="107322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4748B"/>
                </a:solidFill>
              </a:rPr>
              <a:t>Defining project boundaries to maintain high compliance depth within time constraints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13"/>
          <p:cNvCxnSpPr/>
          <p:nvPr/>
        </p:nvCxnSpPr>
        <p:spPr>
          <a:xfrm>
            <a:off x="411480" y="960120"/>
            <a:ext cx="113844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13"/>
          <p:cNvSpPr txBox="1"/>
          <p:nvPr/>
        </p:nvSpPr>
        <p:spPr>
          <a:xfrm>
            <a:off x="411480" y="6537960"/>
            <a:ext cx="640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411480" y="1120000"/>
            <a:ext cx="2726100" cy="10800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100000" spcFirstLastPara="1" rIns="100000" wrap="square" tIns="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68 / 68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 cases registered → delivered (UC-01…UC-68)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3297550" y="1120000"/>
            <a:ext cx="2726100" cy="10800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100000" spcFirstLastPara="1" rIns="100000" wrap="square" tIns="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Major features implemented (F-01…F-35)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6183620" y="1120000"/>
            <a:ext cx="2726100" cy="10800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100000" spcFirstLastPara="1" rIns="100000" wrap="square" tIns="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User roles with role-based access control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9069690" y="1120000"/>
            <a:ext cx="2726100" cy="10800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100000" spcFirstLastPara="1" rIns="100000" wrap="square" tIns="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235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Test cases executed, 100% passing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411475" y="2420000"/>
            <a:ext cx="6900000" cy="2739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0000" lIns="200000" spcFirstLastPara="1" rIns="200000" wrap="square" tIns="12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scope — delivered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334155"/>
              </a:buClr>
              <a:buSzPts val="1000"/>
              <a:buChar char="•"/>
            </a:pPr>
            <a:r>
              <a:rPr b="1" lang="en-US" sz="1000">
                <a:solidFill>
                  <a:srgbClr val="334155"/>
                </a:solidFill>
              </a:rPr>
              <a:t>Aviation Training Lifecycle: </a:t>
            </a:r>
            <a:r>
              <a:rPr lang="en-US" sz="1000">
                <a:solidFill>
                  <a:srgbClr val="334155"/>
                </a:solidFill>
              </a:rPr>
              <a:t>100% digitized workflow: Syllabus → Scheduling → Attendance (80% gate)→ Grading → Sign-off → QA → Manager Approval &amp; Certification.</a:t>
            </a:r>
            <a:endParaRPr sz="1000">
              <a:solidFill>
                <a:srgbClr val="334155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4155"/>
              </a:solidFill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334155"/>
              </a:buClr>
              <a:buSzPts val="1000"/>
              <a:buChar char="•"/>
            </a:pPr>
            <a:r>
              <a:rPr b="1" lang="en-US" sz="1000">
                <a:solidFill>
                  <a:srgbClr val="334155"/>
                </a:solidFill>
              </a:rPr>
              <a:t>Data Integrity &amp; Security: </a:t>
            </a:r>
            <a:r>
              <a:rPr lang="en-US" sz="1000">
                <a:solidFill>
                  <a:srgbClr val="334155"/>
                </a:solidFill>
              </a:rPr>
              <a:t>Automated SHA-256 evidence hashing, multi-tier record locking, JWT authentication &amp; BCrypt security.</a:t>
            </a:r>
            <a:endParaRPr sz="1000">
              <a:solidFill>
                <a:srgbClr val="33415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4155"/>
              </a:solidFill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Char char="•"/>
            </a:pPr>
            <a:r>
              <a:rPr b="1" lang="en-US" sz="1000">
                <a:solidFill>
                  <a:srgbClr val="334155"/>
                </a:solidFill>
              </a:rPr>
              <a:t>Aviation Audit Trail: </a:t>
            </a:r>
            <a:r>
              <a:rPr lang="en-US" sz="1000">
                <a:solidFill>
                  <a:srgbClr val="334155"/>
                </a:solidFill>
              </a:rPr>
              <a:t>Append-only logging of 100% sensitive data mutations with GMT+7 timestamps for CAAV inspection.</a:t>
            </a:r>
            <a:endParaRPr sz="1000">
              <a:solidFill>
                <a:srgbClr val="334155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4155"/>
              </a:solidFill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Char char="•"/>
            </a:pPr>
            <a:r>
              <a:rPr b="1" lang="en-US" sz="1000">
                <a:solidFill>
                  <a:srgbClr val="334155"/>
                </a:solidFill>
              </a:rPr>
              <a:t>Batch Excel Processing: </a:t>
            </a:r>
            <a:r>
              <a:rPr lang="en-US" sz="1000">
                <a:solidFill>
                  <a:srgbClr val="334155"/>
                </a:solidFill>
              </a:rPr>
              <a:t>Validated template download &amp; batch import for accounts, courses, classes, and student rosters.</a:t>
            </a:r>
            <a:endParaRPr sz="1000">
              <a:solidFill>
                <a:srgbClr val="334155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Char char="•"/>
            </a:pPr>
            <a:r>
              <a:rPr b="1" lang="en-US" sz="1000">
                <a:solidFill>
                  <a:srgbClr val="334155"/>
                </a:solidFill>
              </a:rPr>
              <a:t>Dedicated Web Portals: </a:t>
            </a:r>
            <a:r>
              <a:rPr lang="en-US" sz="1000">
                <a:solidFill>
                  <a:srgbClr val="334155"/>
                </a:solidFill>
              </a:rPr>
              <a:t>7 specialized, responsive web portals for all actors (optimized for Desktop &amp; Tablet).</a:t>
            </a:r>
            <a:endParaRPr i="0" sz="1000" u="none" cap="none" strike="noStrike"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7511480" y="2420000"/>
            <a:ext cx="4284300" cy="213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0000" lIns="200000" spcFirstLastPara="1" rIns="200000" wrap="square" tIns="12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 of scope (stated exclusions)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1" lang="en-US" sz="1000">
                <a:solidFill>
                  <a:srgbClr val="334155"/>
                </a:solidFill>
              </a:rPr>
              <a:t>Financial &amp; Tuition Billing:</a:t>
            </a:r>
            <a:r>
              <a:rPr lang="en-US" sz="1000">
                <a:solidFill>
                  <a:srgbClr val="334155"/>
                </a:solidFill>
              </a:rPr>
              <a:t> Financial billing is managed by external enterprise ERP/Accounting systems; decoupled from academic records.</a:t>
            </a:r>
            <a:endParaRPr sz="1000">
              <a:solidFill>
                <a:srgbClr val="334155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1" lang="en-US" sz="1000">
                <a:solidFill>
                  <a:srgbClr val="334155"/>
                </a:solidFill>
              </a:rPr>
              <a:t>Real-time Flight Telemetry:</a:t>
            </a:r>
            <a:r>
              <a:rPr lang="en-US" sz="1000">
                <a:solidFill>
                  <a:srgbClr val="334155"/>
                </a:solidFill>
              </a:rPr>
              <a:t> ETR records certified post-flight debriefings; live blackbox sensor streams belong to onboard avionics.</a:t>
            </a:r>
            <a:endParaRPr sz="1000">
              <a:solidFill>
                <a:srgbClr val="33415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1" lang="en-US" sz="1000">
                <a:solidFill>
                  <a:srgbClr val="334155"/>
                </a:solidFill>
              </a:rPr>
              <a:t>Native Mobile App Stores: </a:t>
            </a:r>
            <a:r>
              <a:rPr lang="en-US" sz="1000">
                <a:solidFill>
                  <a:srgbClr val="334155"/>
                </a:solidFill>
              </a:rPr>
              <a:t>Prioritized secure, zero-install responsive Web/PWA over app store distribution overhead.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411480" y="5600000"/>
            <a:ext cx="11384400" cy="620100"/>
          </a:xfrm>
          <a:prstGeom prst="roundRect">
            <a:avLst>
              <a:gd fmla="val 600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00" lIns="200000" spcFirstLastPara="1" rIns="200000" wrap="square" tIns="6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Strategic Focus: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>
                <a:solidFill>
                  <a:schemeClr val="dk1"/>
                </a:solidFill>
              </a:rPr>
              <a:t>By strictly scoping out billing and flight telemetry, the system achieves enterprise-grade depth in training verification, regulatory compliance, and tamper-proof auditing.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</a:rPr>
              <a:t>10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4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System </a:t>
            </a:r>
            <a:r>
              <a:rPr b="1" lang="en-US" sz="2400">
                <a:solidFill>
                  <a:srgbClr val="17324D"/>
                </a:solidFill>
              </a:rPr>
              <a:t>Design /</a:t>
            </a: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 Architecture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14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14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5275" y="1083876"/>
            <a:ext cx="8141449" cy="513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</a:rPr>
              <a:t>11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5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5"/>
          <p:cNvSpPr txBox="1"/>
          <p:nvPr/>
        </p:nvSpPr>
        <p:spPr>
          <a:xfrm>
            <a:off x="960120" y="560000"/>
            <a:ext cx="1073208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Not just a list — the reason each technology was chosen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15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15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2" name="Google Shape;262;p15"/>
          <p:cNvGraphicFramePr/>
          <p:nvPr/>
        </p:nvGraphicFramePr>
        <p:xfrm>
          <a:off x="411480" y="11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{97B64184-6865-49B5-A5D8-91DD9C2925A0}</a:tableStyleId>
              </a:tblPr>
              <a:tblGrid>
                <a:gridCol w="1900000"/>
                <a:gridCol w="3600000"/>
                <a:gridCol w="5884275"/>
              </a:tblGrid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 / purpose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Technology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Why we chose it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Frontend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React 19 + Vite 8, React Router 7, SCSS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Component-based SPA with fast builds; ApexCharts for dashboards and SheetJS for Excel export.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ASP.NET Core Web API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Strong REST tooling, EF Core, dependency injection and a clean layered structure.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Architecture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Clean Architecture — API / Application / Domain / Infrastructure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Keeps business rules independent and testable; framework changes stay in the outer layer.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SQL Server (Azure SQL)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Relational and transactional; constraints and reporting suit compliance records.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Authentication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JWT + BCrypt password hashing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Stateless authentication with role-based (zero-trust) checks on every request.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 storage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Cloudinary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Evidence files are stored off-site with integrity hashing; the database keeps only metadata.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Documents &amp; mail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QuestPDF, ClosedXML, MailKit (SMTP)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 certificates and Excel reports generated server-side; automatic email notifications.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Testing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xUnit + Moq (backend), Vitest (frontend), Postman/Swagger (API)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Automated verification of business rules plus API contract and UI testing.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Deployment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Azure App Service + Azure SQL + Vercel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 hosting with continuous delivery and separate frontend/backend releases.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"/>
          <p:cNvSpPr/>
          <p:nvPr/>
        </p:nvSpPr>
        <p:spPr>
          <a:xfrm>
            <a:off x="411480" y="292608"/>
            <a:ext cx="50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</a:rPr>
              <a:t>12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960120" y="210312"/>
            <a:ext cx="896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Flow 1 - User &amp; Access Management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p16"/>
          <p:cNvCxnSpPr/>
          <p:nvPr/>
        </p:nvCxnSpPr>
        <p:spPr>
          <a:xfrm>
            <a:off x="411480" y="960120"/>
            <a:ext cx="113844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16"/>
          <p:cNvSpPr txBox="1"/>
          <p:nvPr/>
        </p:nvSpPr>
        <p:spPr>
          <a:xfrm>
            <a:off x="960115" y="606131"/>
            <a:ext cx="408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Role: Administrator                                         </a:t>
            </a:r>
            <a:endParaRPr sz="100"/>
          </a:p>
        </p:txBody>
      </p:sp>
      <p:sp>
        <p:nvSpPr>
          <p:cNvPr id="271" name="Google Shape;271;p16"/>
          <p:cNvSpPr txBox="1"/>
          <p:nvPr/>
        </p:nvSpPr>
        <p:spPr>
          <a:xfrm>
            <a:off x="3503728" y="606134"/>
            <a:ext cx="387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72" name="Google Shape;272;p16"/>
          <p:cNvSpPr/>
          <p:nvPr/>
        </p:nvSpPr>
        <p:spPr>
          <a:xfrm>
            <a:off x="461250" y="3267303"/>
            <a:ext cx="2432100" cy="1381800"/>
          </a:xfrm>
          <a:prstGeom prst="rect">
            <a:avLst/>
          </a:prstGeom>
          <a:solidFill>
            <a:srgbClr val="E7E6E6"/>
          </a:solidFill>
          <a:ln cap="flat" cmpd="sng" w="875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00" lIns="83900" spcFirstLastPara="1" rIns="83900" wrap="square" tIns="83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Account Creation: 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Admin provisions user accounts with strict validation rules (email format, no special chars, phone starting with 0).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73" name="Google Shape;273;p16"/>
          <p:cNvSpPr/>
          <p:nvPr/>
        </p:nvSpPr>
        <p:spPr>
          <a:xfrm>
            <a:off x="3369689" y="3267303"/>
            <a:ext cx="2432100" cy="1381800"/>
          </a:xfrm>
          <a:prstGeom prst="rect">
            <a:avLst/>
          </a:prstGeom>
          <a:solidFill>
            <a:srgbClr val="E7E6E6"/>
          </a:solidFill>
          <a:ln cap="flat" cmpd="sng" w="875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00" lIns="83900" spcFirstLastPara="1" rIns="83900" wrap="square" tIns="83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Role-Based Access Control (RBAC): 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Enforces zero-trust role assignment across 7 distinct actors, preventing privilege escalation.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6278128" y="3267303"/>
            <a:ext cx="2432100" cy="1381800"/>
          </a:xfrm>
          <a:prstGeom prst="rect">
            <a:avLst/>
          </a:prstGeom>
          <a:solidFill>
            <a:srgbClr val="E7E6E6"/>
          </a:solidFill>
          <a:ln cap="flat" cmpd="sng" w="875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00" lIns="83900" spcFirstLastPara="1" rIns="83900" wrap="square" tIns="83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Manage and Update User: 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Organizes accounts into administrative/flight departments; manages account activation and status changes.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9186580" y="3267300"/>
            <a:ext cx="2658900" cy="1381800"/>
          </a:xfrm>
          <a:prstGeom prst="rect">
            <a:avLst/>
          </a:prstGeom>
          <a:solidFill>
            <a:srgbClr val="E7E6E6"/>
          </a:solidFill>
          <a:ln cap="flat" cmpd="sng" w="1075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Activity Oversight (Audit Log): 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Every user creation, role update, and status change is automatically logged with GMT+7 timestamps for inspection.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76" name="Google Shape;276;p16"/>
          <p:cNvCxnSpPr>
            <a:stCxn id="272" idx="3"/>
            <a:endCxn id="273" idx="1"/>
          </p:cNvCxnSpPr>
          <p:nvPr/>
        </p:nvCxnSpPr>
        <p:spPr>
          <a:xfrm>
            <a:off x="2893350" y="3958203"/>
            <a:ext cx="4764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" name="Google Shape;277;p16"/>
          <p:cNvCxnSpPr>
            <a:stCxn id="273" idx="3"/>
            <a:endCxn id="274" idx="1"/>
          </p:cNvCxnSpPr>
          <p:nvPr/>
        </p:nvCxnSpPr>
        <p:spPr>
          <a:xfrm>
            <a:off x="5801789" y="3958203"/>
            <a:ext cx="4764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" name="Google Shape;278;p16"/>
          <p:cNvCxnSpPr>
            <a:stCxn id="274" idx="3"/>
            <a:endCxn id="275" idx="1"/>
          </p:cNvCxnSpPr>
          <p:nvPr/>
        </p:nvCxnSpPr>
        <p:spPr>
          <a:xfrm>
            <a:off x="8710228" y="3958203"/>
            <a:ext cx="4764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9" name="Google Shape;279;p16"/>
          <p:cNvSpPr txBox="1"/>
          <p:nvPr/>
        </p:nvSpPr>
        <p:spPr>
          <a:xfrm>
            <a:off x="411480" y="6537960"/>
            <a:ext cx="640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/>
          <p:nvPr/>
        </p:nvSpPr>
        <p:spPr>
          <a:xfrm>
            <a:off x="411480" y="292608"/>
            <a:ext cx="50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</a:rPr>
              <a:t>13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960120" y="210312"/>
            <a:ext cx="896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Flow 2 - Learner, Course &amp; Enrollment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p17"/>
          <p:cNvCxnSpPr/>
          <p:nvPr/>
        </p:nvCxnSpPr>
        <p:spPr>
          <a:xfrm>
            <a:off x="411480" y="960120"/>
            <a:ext cx="113844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7"/>
          <p:cNvSpPr txBox="1"/>
          <p:nvPr/>
        </p:nvSpPr>
        <p:spPr>
          <a:xfrm>
            <a:off x="960122" y="594340"/>
            <a:ext cx="4107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Role: Academic Staff</a:t>
            </a:r>
            <a:endParaRPr sz="1700"/>
          </a:p>
        </p:txBody>
      </p:sp>
      <p:sp>
        <p:nvSpPr>
          <p:cNvPr id="288" name="Google Shape;288;p17"/>
          <p:cNvSpPr txBox="1"/>
          <p:nvPr/>
        </p:nvSpPr>
        <p:spPr>
          <a:xfrm>
            <a:off x="3702747" y="594343"/>
            <a:ext cx="427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89" name="Google Shape;289;p17"/>
          <p:cNvSpPr/>
          <p:nvPr/>
        </p:nvSpPr>
        <p:spPr>
          <a:xfrm>
            <a:off x="421438" y="3139167"/>
            <a:ext cx="2360100" cy="1219500"/>
          </a:xfrm>
          <a:prstGeom prst="rect">
            <a:avLst/>
          </a:prstGeom>
          <a:solidFill>
            <a:srgbClr val="E7E6E6"/>
          </a:solidFill>
          <a:ln cap="flat" cmpd="sng" w="92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75" lIns="88975" spcFirstLastPara="1" rIns="88975" wrap="square" tIns="8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5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Enrollment: </a:t>
            </a:r>
            <a:endParaRPr b="1" sz="1265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5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Academic staff initiates learner enrollment into a specific class.</a:t>
            </a:r>
            <a:endParaRPr sz="1265"/>
          </a:p>
        </p:txBody>
      </p:sp>
      <p:sp>
        <p:nvSpPr>
          <p:cNvPr id="290" name="Google Shape;290;p17"/>
          <p:cNvSpPr/>
          <p:nvPr/>
        </p:nvSpPr>
        <p:spPr>
          <a:xfrm>
            <a:off x="3489239" y="3139167"/>
            <a:ext cx="2360100" cy="1219500"/>
          </a:xfrm>
          <a:prstGeom prst="rect">
            <a:avLst/>
          </a:prstGeom>
          <a:solidFill>
            <a:srgbClr val="E7E6E6"/>
          </a:solidFill>
          <a:ln cap="flat" cmpd="sng" w="92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75" lIns="88975" spcFirstLastPara="1" rIns="88975" wrap="square" tIns="8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5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Auto-Generation:</a:t>
            </a:r>
            <a:endParaRPr b="1" sz="1265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5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System automatically provisions the ETR Course Record in 'Draft' state.</a:t>
            </a:r>
            <a:endParaRPr sz="1265">
              <a:solidFill>
                <a:srgbClr val="000000"/>
              </a:solidFill>
            </a:endParaRPr>
          </a:p>
          <a:p>
            <a:pPr indent="0" lvl="0" marL="44497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65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9274863" y="3118875"/>
            <a:ext cx="2495700" cy="1260300"/>
          </a:xfrm>
          <a:prstGeom prst="rect">
            <a:avLst/>
          </a:prstGeom>
          <a:solidFill>
            <a:srgbClr val="E7E6E6"/>
          </a:solidFill>
          <a:ln cap="flat" cmpd="sng" w="92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75" lIns="88975" spcFirstLastPara="1" rIns="88975" wrap="square" tIns="8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5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Ensuring Completeness:</a:t>
            </a:r>
            <a:endParaRPr b="1" sz="1265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5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Guarantees no missing records by automating the foundational data setup.</a:t>
            </a:r>
            <a:endParaRPr sz="1265">
              <a:solidFill>
                <a:srgbClr val="000000"/>
              </a:solidFill>
            </a:endParaRPr>
          </a:p>
          <a:p>
            <a:pPr indent="0" lvl="0" marL="44497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65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6438937" y="3139167"/>
            <a:ext cx="2312700" cy="1219500"/>
          </a:xfrm>
          <a:prstGeom prst="rect">
            <a:avLst/>
          </a:prstGeom>
          <a:solidFill>
            <a:srgbClr val="E7E6E6"/>
          </a:solidFill>
          <a:ln cap="flat" cmpd="sng" w="9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75" lIns="88975" spcFirstLastPara="1" rIns="88975" wrap="square" tIns="8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65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5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Curriculum &amp; Schedule Mapping: </a:t>
            </a:r>
            <a:endParaRPr b="1" sz="1265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Auto-binds course subjects, passing score snapshots, and attendance rosters.</a:t>
            </a:r>
            <a:r>
              <a:rPr b="1" lang="en-US" sz="126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265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65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93" name="Google Shape;293;p17"/>
          <p:cNvCxnSpPr>
            <a:stCxn id="289" idx="3"/>
            <a:endCxn id="290" idx="1"/>
          </p:cNvCxnSpPr>
          <p:nvPr/>
        </p:nvCxnSpPr>
        <p:spPr>
          <a:xfrm>
            <a:off x="2781538" y="3748917"/>
            <a:ext cx="7077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17"/>
          <p:cNvCxnSpPr>
            <a:stCxn id="290" idx="3"/>
            <a:endCxn id="292" idx="1"/>
          </p:cNvCxnSpPr>
          <p:nvPr/>
        </p:nvCxnSpPr>
        <p:spPr>
          <a:xfrm>
            <a:off x="5849339" y="3748917"/>
            <a:ext cx="5895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p17"/>
          <p:cNvCxnSpPr>
            <a:stCxn id="292" idx="3"/>
            <a:endCxn id="291" idx="1"/>
          </p:cNvCxnSpPr>
          <p:nvPr/>
        </p:nvCxnSpPr>
        <p:spPr>
          <a:xfrm>
            <a:off x="8751637" y="3748917"/>
            <a:ext cx="5232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6" name="Google Shape;296;p17"/>
          <p:cNvSpPr txBox="1"/>
          <p:nvPr/>
        </p:nvSpPr>
        <p:spPr>
          <a:xfrm>
            <a:off x="411480" y="6537960"/>
            <a:ext cx="640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"/>
          <p:cNvSpPr/>
          <p:nvPr/>
        </p:nvSpPr>
        <p:spPr>
          <a:xfrm>
            <a:off x="411480" y="292608"/>
            <a:ext cx="50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</a:rPr>
              <a:t>14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960120" y="210312"/>
            <a:ext cx="896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Flow 3 - Attendance &amp; Assessment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18"/>
          <p:cNvCxnSpPr/>
          <p:nvPr/>
        </p:nvCxnSpPr>
        <p:spPr>
          <a:xfrm>
            <a:off x="411480" y="960120"/>
            <a:ext cx="113844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18"/>
          <p:cNvSpPr txBox="1"/>
          <p:nvPr/>
        </p:nvSpPr>
        <p:spPr>
          <a:xfrm>
            <a:off x="960115" y="594356"/>
            <a:ext cx="387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Role: Instructor</a:t>
            </a:r>
            <a:endParaRPr sz="1700"/>
          </a:p>
        </p:txBody>
      </p:sp>
      <p:sp>
        <p:nvSpPr>
          <p:cNvPr id="305" name="Google Shape;305;p18"/>
          <p:cNvSpPr txBox="1"/>
          <p:nvPr/>
        </p:nvSpPr>
        <p:spPr>
          <a:xfrm>
            <a:off x="253078" y="3690603"/>
            <a:ext cx="41412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50" lIns="97725" spcFirstLastPara="1" rIns="97725" wrap="square" tIns="48850">
            <a:spAutoFit/>
          </a:bodyPr>
          <a:lstStyle/>
          <a:p>
            <a:pPr indent="-122191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24"/>
              <a:buFont typeface="Arial"/>
              <a:buChar char="•"/>
            </a:pPr>
            <a:r>
              <a:t/>
            </a:r>
            <a:endParaRPr sz="1497"/>
          </a:p>
        </p:txBody>
      </p:sp>
      <p:sp>
        <p:nvSpPr>
          <p:cNvPr id="306" name="Google Shape;306;p18"/>
          <p:cNvSpPr txBox="1"/>
          <p:nvPr/>
        </p:nvSpPr>
        <p:spPr>
          <a:xfrm>
            <a:off x="662940" y="5572446"/>
            <a:ext cx="387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8"/>
          <p:cNvSpPr/>
          <p:nvPr/>
        </p:nvSpPr>
        <p:spPr>
          <a:xfrm>
            <a:off x="270800" y="2974155"/>
            <a:ext cx="2302500" cy="1281000"/>
          </a:xfrm>
          <a:prstGeom prst="rect">
            <a:avLst/>
          </a:prstGeom>
          <a:solidFill>
            <a:srgbClr val="E7E6E6"/>
          </a:solidFill>
          <a:ln cap="flat" cmpd="sng" w="101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25" lIns="97725" spcFirstLastPara="1" rIns="97725" wrap="square" tIns="9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2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2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Data Isolation:</a:t>
            </a:r>
            <a:endParaRPr b="1" sz="1252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2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Instructors can only access and modify data for classes they are explicitly assigned to teach.</a:t>
            </a:r>
            <a:endParaRPr sz="1252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2"/>
          </a:p>
        </p:txBody>
      </p:sp>
      <p:sp>
        <p:nvSpPr>
          <p:cNvPr id="308" name="Google Shape;308;p18"/>
          <p:cNvSpPr/>
          <p:nvPr/>
        </p:nvSpPr>
        <p:spPr>
          <a:xfrm>
            <a:off x="3261277" y="2967114"/>
            <a:ext cx="2302500" cy="1281000"/>
          </a:xfrm>
          <a:prstGeom prst="rect">
            <a:avLst/>
          </a:prstGeom>
          <a:solidFill>
            <a:srgbClr val="E7E6E6"/>
          </a:solidFill>
          <a:ln cap="flat" cmpd="sng" w="101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25" lIns="97725" spcFirstLastPara="1" rIns="97725" wrap="square" tIns="9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2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Attendance Tracking:</a:t>
            </a:r>
            <a:endParaRPr b="1" sz="1252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2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Real-time session confirmation and presence marking.</a:t>
            </a:r>
            <a:endParaRPr sz="1252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2"/>
          </a:p>
        </p:txBody>
      </p:sp>
      <p:sp>
        <p:nvSpPr>
          <p:cNvPr id="309" name="Google Shape;309;p18"/>
          <p:cNvSpPr/>
          <p:nvPr/>
        </p:nvSpPr>
        <p:spPr>
          <a:xfrm>
            <a:off x="6251761" y="2981341"/>
            <a:ext cx="2661000" cy="1266600"/>
          </a:xfrm>
          <a:prstGeom prst="rect">
            <a:avLst/>
          </a:prstGeom>
          <a:solidFill>
            <a:srgbClr val="E7E6E6"/>
          </a:solidFill>
          <a:ln cap="flat" cmpd="sng" w="101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25" lIns="97725" spcFirstLastPara="1" rIns="97725" wrap="square" tIns="9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2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Automated Grading:</a:t>
            </a:r>
            <a:endParaRPr b="1" sz="1252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2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System automatically calculates attendance rates and evaluates Pass/Fail status against configured thresholds.</a:t>
            </a:r>
            <a:endParaRPr sz="1252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2"/>
          </a:p>
        </p:txBody>
      </p:sp>
      <p:sp>
        <p:nvSpPr>
          <p:cNvPr id="310" name="Google Shape;310;p18"/>
          <p:cNvSpPr/>
          <p:nvPr/>
        </p:nvSpPr>
        <p:spPr>
          <a:xfrm>
            <a:off x="9651657" y="2967114"/>
            <a:ext cx="2302500" cy="1281000"/>
          </a:xfrm>
          <a:prstGeom prst="rect">
            <a:avLst/>
          </a:prstGeom>
          <a:solidFill>
            <a:srgbClr val="E7E6E6"/>
          </a:solidFill>
          <a:ln cap="flat" cmpd="sng" w="101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25" lIns="97725" spcFirstLastPara="1" rIns="97725" wrap="square" tIns="9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2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Input Validation:</a:t>
            </a:r>
            <a:endParaRPr b="1" sz="1252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2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Backend constraints reject invalid score inputs immediately.</a:t>
            </a:r>
            <a:endParaRPr sz="1252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2"/>
          </a:p>
        </p:txBody>
      </p:sp>
      <p:cxnSp>
        <p:nvCxnSpPr>
          <p:cNvPr id="311" name="Google Shape;311;p18"/>
          <p:cNvCxnSpPr>
            <a:stCxn id="307" idx="3"/>
            <a:endCxn id="308" idx="1"/>
          </p:cNvCxnSpPr>
          <p:nvPr/>
        </p:nvCxnSpPr>
        <p:spPr>
          <a:xfrm flipH="1" rot="10800000">
            <a:off x="2573300" y="3607755"/>
            <a:ext cx="687900" cy="69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p18"/>
          <p:cNvCxnSpPr>
            <a:stCxn id="308" idx="3"/>
            <a:endCxn id="309" idx="1"/>
          </p:cNvCxnSpPr>
          <p:nvPr/>
        </p:nvCxnSpPr>
        <p:spPr>
          <a:xfrm>
            <a:off x="5563777" y="3607614"/>
            <a:ext cx="687900" cy="69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18"/>
          <p:cNvCxnSpPr>
            <a:stCxn id="309" idx="3"/>
            <a:endCxn id="310" idx="1"/>
          </p:cNvCxnSpPr>
          <p:nvPr/>
        </p:nvCxnSpPr>
        <p:spPr>
          <a:xfrm flipH="1" rot="10800000">
            <a:off x="8912761" y="3607741"/>
            <a:ext cx="738900" cy="69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" name="Google Shape;314;p18"/>
          <p:cNvSpPr txBox="1"/>
          <p:nvPr/>
        </p:nvSpPr>
        <p:spPr>
          <a:xfrm>
            <a:off x="411480" y="6537960"/>
            <a:ext cx="640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/>
          <p:nvPr/>
        </p:nvSpPr>
        <p:spPr>
          <a:xfrm>
            <a:off x="411480" y="292608"/>
            <a:ext cx="50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</a:rPr>
              <a:t>15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960120" y="210312"/>
            <a:ext cx="896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Flow 4 - Evidence &amp; QA Verification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19"/>
          <p:cNvCxnSpPr/>
          <p:nvPr/>
        </p:nvCxnSpPr>
        <p:spPr>
          <a:xfrm>
            <a:off x="411480" y="960120"/>
            <a:ext cx="113844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19"/>
          <p:cNvSpPr txBox="1"/>
          <p:nvPr/>
        </p:nvSpPr>
        <p:spPr>
          <a:xfrm>
            <a:off x="914398" y="600228"/>
            <a:ext cx="399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Role: QA Staff</a:t>
            </a:r>
            <a:endParaRPr sz="1700"/>
          </a:p>
        </p:txBody>
      </p:sp>
      <p:sp>
        <p:nvSpPr>
          <p:cNvPr id="323" name="Google Shape;323;p19"/>
          <p:cNvSpPr txBox="1"/>
          <p:nvPr/>
        </p:nvSpPr>
        <p:spPr>
          <a:xfrm>
            <a:off x="2945072" y="600218"/>
            <a:ext cx="427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Maker-Checker Compliance</a:t>
            </a:r>
            <a:endParaRPr sz="1700"/>
          </a:p>
        </p:txBody>
      </p:sp>
      <p:sp>
        <p:nvSpPr>
          <p:cNvPr id="324" name="Google Shape;324;p19"/>
          <p:cNvSpPr txBox="1"/>
          <p:nvPr/>
        </p:nvSpPr>
        <p:spPr>
          <a:xfrm>
            <a:off x="7743723" y="3046351"/>
            <a:ext cx="399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800"/>
              <a:buFont typeface="Arial"/>
              <a:buChar char="•"/>
            </a:pPr>
            <a:r>
              <a:t/>
            </a:r>
            <a:endParaRPr/>
          </a:p>
        </p:txBody>
      </p:sp>
      <p:sp>
        <p:nvSpPr>
          <p:cNvPr id="325" name="Google Shape;325;p19"/>
          <p:cNvSpPr/>
          <p:nvPr/>
        </p:nvSpPr>
        <p:spPr>
          <a:xfrm>
            <a:off x="578850" y="3049588"/>
            <a:ext cx="2331300" cy="13989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Document Upload: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Instructors upload physical evidence (scans/PDFs) linked to specific training events.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26" name="Google Shape;326;p19"/>
          <p:cNvSpPr/>
          <p:nvPr/>
        </p:nvSpPr>
        <p:spPr>
          <a:xfrm>
            <a:off x="3394400" y="3049575"/>
            <a:ext cx="2331300" cy="13989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Independent Verification: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QA staff review pending evidence in a dedicated queue.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27" name="Google Shape;327;p19"/>
          <p:cNvSpPr/>
          <p:nvPr/>
        </p:nvSpPr>
        <p:spPr>
          <a:xfrm>
            <a:off x="6209938" y="3049575"/>
            <a:ext cx="2331300" cy="13989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Strict Enforcement: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System strictly prohibits users from verifying documents they uploaded themselves.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28" name="Google Shape;328;p19"/>
          <p:cNvSpPr/>
          <p:nvPr/>
        </p:nvSpPr>
        <p:spPr>
          <a:xfrm>
            <a:off x="9091038" y="3049600"/>
            <a:ext cx="2331300" cy="13989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Audit Readiness: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Ensures all training data is backed by verified physical or digital proofs.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cxnSp>
        <p:nvCxnSpPr>
          <p:cNvPr id="329" name="Google Shape;329;p19"/>
          <p:cNvCxnSpPr>
            <a:stCxn id="325" idx="3"/>
            <a:endCxn id="326" idx="1"/>
          </p:cNvCxnSpPr>
          <p:nvPr/>
        </p:nvCxnSpPr>
        <p:spPr>
          <a:xfrm>
            <a:off x="2910150" y="3749038"/>
            <a:ext cx="4842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19"/>
          <p:cNvCxnSpPr>
            <a:endCxn id="327" idx="1"/>
          </p:cNvCxnSpPr>
          <p:nvPr/>
        </p:nvCxnSpPr>
        <p:spPr>
          <a:xfrm>
            <a:off x="5725738" y="3749025"/>
            <a:ext cx="4842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" name="Google Shape;331;p19"/>
          <p:cNvCxnSpPr>
            <a:stCxn id="327" idx="3"/>
            <a:endCxn id="328" idx="1"/>
          </p:cNvCxnSpPr>
          <p:nvPr/>
        </p:nvCxnSpPr>
        <p:spPr>
          <a:xfrm>
            <a:off x="8541238" y="3749025"/>
            <a:ext cx="5499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" name="Google Shape;332;p19"/>
          <p:cNvSpPr txBox="1"/>
          <p:nvPr/>
        </p:nvSpPr>
        <p:spPr>
          <a:xfrm>
            <a:off x="411480" y="6537960"/>
            <a:ext cx="640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"/>
          <p:cNvSpPr/>
          <p:nvPr/>
        </p:nvSpPr>
        <p:spPr>
          <a:xfrm>
            <a:off x="411480" y="292608"/>
            <a:ext cx="50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</a:rPr>
              <a:t>16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960120" y="210312"/>
            <a:ext cx="896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Flow 5 - ETR Approval &amp; Freeze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p20"/>
          <p:cNvCxnSpPr/>
          <p:nvPr/>
        </p:nvCxnSpPr>
        <p:spPr>
          <a:xfrm>
            <a:off x="411480" y="960120"/>
            <a:ext cx="113844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20"/>
          <p:cNvSpPr txBox="1"/>
          <p:nvPr/>
        </p:nvSpPr>
        <p:spPr>
          <a:xfrm>
            <a:off x="960114" y="606131"/>
            <a:ext cx="469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Role: Training Manager</a:t>
            </a:r>
            <a:endParaRPr sz="1700"/>
          </a:p>
        </p:txBody>
      </p:sp>
      <p:sp>
        <p:nvSpPr>
          <p:cNvPr id="341" name="Google Shape;341;p20"/>
          <p:cNvSpPr txBox="1"/>
          <p:nvPr/>
        </p:nvSpPr>
        <p:spPr>
          <a:xfrm>
            <a:off x="4004490" y="606134"/>
            <a:ext cx="387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The Deep Freeze Mechanism</a:t>
            </a:r>
            <a:endParaRPr sz="1700"/>
          </a:p>
        </p:txBody>
      </p:sp>
      <p:sp>
        <p:nvSpPr>
          <p:cNvPr id="342" name="Google Shape;342;p20"/>
          <p:cNvSpPr/>
          <p:nvPr/>
        </p:nvSpPr>
        <p:spPr>
          <a:xfrm>
            <a:off x="460425" y="2972477"/>
            <a:ext cx="2467200" cy="1389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Final Authority: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Training Manager reviews fully verified ETRs for final sign-off.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43" name="Google Shape;343;p20"/>
          <p:cNvSpPr/>
          <p:nvPr/>
        </p:nvSpPr>
        <p:spPr>
          <a:xfrm>
            <a:off x="3372075" y="2972475"/>
            <a:ext cx="2600400" cy="1389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Pre-Validation Engine: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System checks all prerequisites (attendance, passing scores, verified evidence) before allowing approval.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44" name="Google Shape;344;p20"/>
          <p:cNvSpPr/>
          <p:nvPr/>
        </p:nvSpPr>
        <p:spPr>
          <a:xfrm>
            <a:off x="6416925" y="2972475"/>
            <a:ext cx="2403000" cy="1389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Immutability Lock: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Upon approval, the ETR enters the 'Completed' state.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45" name="Google Shape;345;p20"/>
          <p:cNvSpPr/>
          <p:nvPr/>
        </p:nvSpPr>
        <p:spPr>
          <a:xfrm>
            <a:off x="9264375" y="2972475"/>
            <a:ext cx="2467200" cy="1389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Data Integrity: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'Deep Freeze' prevents any further modifications by any user, ensuring regulatory compliance.</a:t>
            </a:r>
            <a:endParaRPr sz="1300">
              <a:solidFill>
                <a:srgbClr val="000000"/>
              </a:solidFill>
            </a:endParaRPr>
          </a:p>
        </p:txBody>
      </p:sp>
      <p:cxnSp>
        <p:nvCxnSpPr>
          <p:cNvPr id="346" name="Google Shape;346;p20"/>
          <p:cNvCxnSpPr>
            <a:stCxn id="342" idx="3"/>
            <a:endCxn id="343" idx="1"/>
          </p:cNvCxnSpPr>
          <p:nvPr/>
        </p:nvCxnSpPr>
        <p:spPr>
          <a:xfrm>
            <a:off x="2927625" y="3666977"/>
            <a:ext cx="4446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" name="Google Shape;347;p20"/>
          <p:cNvCxnSpPr>
            <a:stCxn id="343" idx="3"/>
            <a:endCxn id="344" idx="1"/>
          </p:cNvCxnSpPr>
          <p:nvPr/>
        </p:nvCxnSpPr>
        <p:spPr>
          <a:xfrm>
            <a:off x="5972475" y="3666975"/>
            <a:ext cx="4446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20"/>
          <p:cNvCxnSpPr>
            <a:stCxn id="344" idx="3"/>
            <a:endCxn id="345" idx="1"/>
          </p:cNvCxnSpPr>
          <p:nvPr/>
        </p:nvCxnSpPr>
        <p:spPr>
          <a:xfrm>
            <a:off x="8819925" y="3666975"/>
            <a:ext cx="4446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" name="Google Shape;349;p20"/>
          <p:cNvSpPr txBox="1"/>
          <p:nvPr/>
        </p:nvSpPr>
        <p:spPr>
          <a:xfrm>
            <a:off x="411480" y="6537960"/>
            <a:ext cx="640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"/>
          <p:cNvSpPr/>
          <p:nvPr/>
        </p:nvSpPr>
        <p:spPr>
          <a:xfrm>
            <a:off x="411480" y="292608"/>
            <a:ext cx="50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</a:rPr>
              <a:t>17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960120" y="210312"/>
            <a:ext cx="896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Flow 6 - Reporting, Export &amp; Audit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p21"/>
          <p:cNvCxnSpPr/>
          <p:nvPr/>
        </p:nvCxnSpPr>
        <p:spPr>
          <a:xfrm>
            <a:off x="411480" y="960120"/>
            <a:ext cx="113844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p21"/>
          <p:cNvSpPr txBox="1"/>
          <p:nvPr/>
        </p:nvSpPr>
        <p:spPr>
          <a:xfrm>
            <a:off x="960122" y="594340"/>
            <a:ext cx="427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Role: Auditor / Admin</a:t>
            </a:r>
            <a:endParaRPr sz="1700"/>
          </a:p>
        </p:txBody>
      </p:sp>
      <p:sp>
        <p:nvSpPr>
          <p:cNvPr id="358" name="Google Shape;358;p21"/>
          <p:cNvSpPr txBox="1"/>
          <p:nvPr/>
        </p:nvSpPr>
        <p:spPr>
          <a:xfrm>
            <a:off x="4023322" y="606118"/>
            <a:ext cx="427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Traceability &amp; CAA Compliance</a:t>
            </a:r>
            <a:endParaRPr sz="1700"/>
          </a:p>
        </p:txBody>
      </p:sp>
      <p:sp>
        <p:nvSpPr>
          <p:cNvPr id="359" name="Google Shape;359;p21"/>
          <p:cNvSpPr/>
          <p:nvPr/>
        </p:nvSpPr>
        <p:spPr>
          <a:xfrm>
            <a:off x="534250" y="3054525"/>
            <a:ext cx="2302200" cy="1389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Automated Audit Trails: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Entity Framework Interceptors automatically log every create, update, and delete action across the system.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60" name="Google Shape;360;p21"/>
          <p:cNvSpPr/>
          <p:nvPr/>
        </p:nvSpPr>
        <p:spPr>
          <a:xfrm>
            <a:off x="3412225" y="3054525"/>
            <a:ext cx="2263200" cy="1389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Immutable Logs: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Audit entries record user, action, timestamp, and data changes, and cannot be altered.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61" name="Google Shape;361;p21"/>
          <p:cNvSpPr/>
          <p:nvPr/>
        </p:nvSpPr>
        <p:spPr>
          <a:xfrm>
            <a:off x="9095850" y="3054538"/>
            <a:ext cx="2263200" cy="1389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Regulatory Readiness: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Streamlines the preparation process for external Civil Aviation Authority (CAA) audits.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62" name="Google Shape;362;p21"/>
          <p:cNvSpPr/>
          <p:nvPr/>
        </p:nvSpPr>
        <p:spPr>
          <a:xfrm>
            <a:off x="6251200" y="3054538"/>
            <a:ext cx="2263200" cy="1389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Package Generation: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One-click compilation of the entire Training Package (PDF/ZIP) for completed ETRs.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cxnSp>
        <p:nvCxnSpPr>
          <p:cNvPr id="363" name="Google Shape;363;p21"/>
          <p:cNvCxnSpPr>
            <a:stCxn id="359" idx="3"/>
            <a:endCxn id="360" idx="1"/>
          </p:cNvCxnSpPr>
          <p:nvPr/>
        </p:nvCxnSpPr>
        <p:spPr>
          <a:xfrm>
            <a:off x="2836450" y="3749025"/>
            <a:ext cx="5757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21"/>
          <p:cNvCxnSpPr>
            <a:stCxn id="360" idx="3"/>
            <a:endCxn id="362" idx="1"/>
          </p:cNvCxnSpPr>
          <p:nvPr/>
        </p:nvCxnSpPr>
        <p:spPr>
          <a:xfrm>
            <a:off x="5675425" y="3749025"/>
            <a:ext cx="5757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" name="Google Shape;365;p21"/>
          <p:cNvCxnSpPr>
            <a:stCxn id="362" idx="3"/>
            <a:endCxn id="361" idx="1"/>
          </p:cNvCxnSpPr>
          <p:nvPr/>
        </p:nvCxnSpPr>
        <p:spPr>
          <a:xfrm>
            <a:off x="8514400" y="3749038"/>
            <a:ext cx="5814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6" name="Google Shape;366;p21"/>
          <p:cNvSpPr txBox="1"/>
          <p:nvPr/>
        </p:nvSpPr>
        <p:spPr>
          <a:xfrm>
            <a:off x="411480" y="6537960"/>
            <a:ext cx="640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2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</a:rPr>
              <a:t>18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2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Testing &amp; Quality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960120" y="560000"/>
            <a:ext cx="1073208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235 test cases across two levels, three execution rounds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22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22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411480" y="1120000"/>
            <a:ext cx="2726070" cy="10400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100000" spcFirstLastPara="1" rIns="100000" wrap="square" tIns="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235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Total test cases (129 unit + 106 system)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3297550" y="1120000"/>
            <a:ext cx="2726070" cy="10400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100000" spcFirstLastPara="1" rIns="100000" wrap="square" tIns="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100.0%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Pass rate — 235 of 235 passed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6183620" y="1120000"/>
            <a:ext cx="2726070" cy="10400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100000" spcFirstLastPara="1" rIns="100000" wrap="square" tIns="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Defects open at release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9069690" y="1120000"/>
            <a:ext cx="2726070" cy="10400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100000" spcFirstLastPara="1" rIns="100000" wrap="square" tIns="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31 / 27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Service functions / features covered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411480" y="2380000"/>
            <a:ext cx="5592140" cy="25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0000" lIns="200000" spcFirstLastPara="1" rIns="200000" wrap="square" tIns="13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Unit testing (white-box)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xUnit + Moq, Arrange-Act-Assert. 129 cases covering 31 service functions — Normal 40 (31.0%), Abnormal 64 (49.6%), Boundary 25 (19.4%).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&amp; integration testing (black-box)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106 cases across 27 features / controllers, executed in 3 rounds: Round 1 defect detection → Round 2 fix &amp; re-test → Round 3 regression verification.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 &amp; RBAC testing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Cross-role checks: an Instructor cannot verify evidence, Academic Staff cannot approve an ETR, Auditor has read-only access and no write operation succeeds.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6203620" y="2380000"/>
            <a:ext cx="5592140" cy="25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0000" lIns="200000" spcFirstLastPara="1" rIns="200000" wrap="square" tIns="13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Defect handling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Defects found in Round 1 were logged in GitHub Issues with severity, then fixed and re-tested in Rounds 2–3. No defect remains open at release (defect log — Report 5).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 gates vs. plan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Planned defect ceilings: unit ≤ 2%, integration ≤ 4%, system ≤ 5%, acceptance ≤ 3%. All gate criteria were met before deployment.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Tools &amp; environment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Swagger / Postman for API, Vitest for frontend, Chrome &amp; Edge for cross-browser checks; automated rollback on the SQL Server test database.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3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</a:rPr>
              <a:t>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3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Team Roles &amp; Contribution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3"/>
          <p:cNvSpPr txBox="1"/>
          <p:nvPr/>
        </p:nvSpPr>
        <p:spPr>
          <a:xfrm>
            <a:off x="960120" y="560000"/>
            <a:ext cx="1073208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Who did what — with the evidence behind each claim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" name="Google Shape;389;p23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p23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1" name="Google Shape;391;p23"/>
          <p:cNvGraphicFramePr/>
          <p:nvPr/>
        </p:nvGraphicFramePr>
        <p:xfrm>
          <a:off x="411480" y="11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{97B64184-6865-49B5-A5D8-91DD9C2925A0}</a:tableStyleId>
              </a:tblPr>
              <a:tblGrid>
                <a:gridCol w="2900000"/>
                <a:gridCol w="5200000"/>
                <a:gridCol w="3284275"/>
              </a:tblGrid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Member (role)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Main contribution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Evidence / deliverables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</a:tr>
              <a:tr h="8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Nguyen Huu Nhat Trieu (SE170486)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Leader ·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Back-end</a:t>
                      </a: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· Test Manager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Requirements analysis and SRS baseline; system architecture; core ETR workflow (validation, submission, approval, locking); test management and UAT.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Report 3 (SRS), Report 4 (SDD), backend repository, test plan &amp; UAT evidence.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8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 Trong Nhan (SE171411)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Front-end · QA Tester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QA and dashboard screens; manual cross-browser testing on Chrome/Edge; defect logging and verification between Rounds 1–2.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Report 6 (user guides), Report 5 test report, frontend repository.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8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Doan Trong Khoi (SE141053)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Back-end · Automation Tester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 services and EF Core data access; backend unit tests and API integration tests.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 repository, Report5_Unit Test — 129 unit test cases.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8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 Trong Nhan (SE171973)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Front-end · UI/UX &amp; Integration Tester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UI/UX prototype; student and auditor screens; API contract checks, Cloudinary upload payloads and Excel import dry-run validation.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UI/UX prototype, Report 6 screens/walkthroughs, Report 5 integration evidence.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members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 reviews (R/D responsibility matrix), weekly sprints, code reviews on every pull request and demo rehearsals.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Reports 1–7, GitHub pull-request history, weekly status reports.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392" name="Google Shape;392;p23"/>
          <p:cNvSpPr/>
          <p:nvPr/>
        </p:nvSpPr>
        <p:spPr>
          <a:xfrm>
            <a:off x="411480" y="5700000"/>
            <a:ext cx="11384280" cy="620000"/>
          </a:xfrm>
          <a:prstGeom prst="roundRect">
            <a:avLst>
              <a:gd fmla="val 600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00" lIns="200000" spcFirstLastPara="1" rIns="200000" wrap="square" tIns="6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 was split in 1–2 week sprints 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no single-owner critical task; frontend and backend were developed in parallel against a documented API contract.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4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</a:rPr>
              <a:t>20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4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Limitations &amp; Future Work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4"/>
          <p:cNvSpPr txBox="1"/>
          <p:nvPr/>
        </p:nvSpPr>
        <p:spPr>
          <a:xfrm>
            <a:off x="960120" y="560000"/>
            <a:ext cx="1073208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 state the limitations before the panel has to point them out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0" name="Google Shape;400;p24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24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411480" y="1554750"/>
            <a:ext cx="5592000" cy="33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0000" lIns="220000" spcFirstLastPara="1" rIns="220000" wrap="square" tIns="14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Limitations (current scope)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Web-based only — a stable network connection and service availability are required.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paper / Excel records are not migrated automatically; migration must be a controlled import.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Learner access is read-only on official records — learners cannot create, verify or approve them.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accuracy depends on correct data entry by staff and on evidence verification.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LMS / e-learning delivery is provided by the system.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integration with external aviation authorities, airlines or third-party platforms.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native mobile application; no multi-factor authentication yet.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4"/>
          <p:cNvSpPr/>
          <p:nvPr/>
        </p:nvSpPr>
        <p:spPr>
          <a:xfrm>
            <a:off x="6203620" y="1554750"/>
            <a:ext cx="5592000" cy="33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0000" lIns="220000" spcFirstLastPara="1" rIns="220000" wrap="square" tIns="14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development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application (Android / iOS) for instructors and learners.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LMS and online-examination integration.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 integration with CAA / airline training systems.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Advanced analytics and AI-based recommendations (e.g. at-risk learner prediction).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Automated legacy-data migration tooling.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Multi-factor authentication and enterprise SSO.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Offline evidence capture for flight-line and simulator environments.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324D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5"/>
          <p:cNvSpPr txBox="1"/>
          <p:nvPr/>
        </p:nvSpPr>
        <p:spPr>
          <a:xfrm>
            <a:off x="411480" y="700000"/>
            <a:ext cx="1138428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5"/>
          <p:cNvSpPr txBox="1"/>
          <p:nvPr/>
        </p:nvSpPr>
        <p:spPr>
          <a:xfrm>
            <a:off x="411480" y="1300000"/>
            <a:ext cx="1138428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A centralized, traceable and compliant training-record platform — built and verified end to 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5"/>
          <p:cNvSpPr/>
          <p:nvPr/>
        </p:nvSpPr>
        <p:spPr>
          <a:xfrm>
            <a:off x="1563905" y="1975000"/>
            <a:ext cx="2164800" cy="1149900"/>
          </a:xfrm>
          <a:prstGeom prst="roundRect">
            <a:avLst>
              <a:gd fmla="val 7000" name="adj"/>
            </a:avLst>
          </a:prstGeom>
          <a:solidFill>
            <a:srgbClr val="1E426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00000" spcFirstLastPara="1" rIns="100000" wrap="square" tIns="9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68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CBD5E1"/>
                </a:solidFill>
              </a:rPr>
              <a:t>U</a:t>
            </a: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se cases delivered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5"/>
          <p:cNvSpPr/>
          <p:nvPr/>
        </p:nvSpPr>
        <p:spPr>
          <a:xfrm>
            <a:off x="3868761" y="1975000"/>
            <a:ext cx="2164800" cy="1149900"/>
          </a:xfrm>
          <a:prstGeom prst="roundRect">
            <a:avLst>
              <a:gd fmla="val 7000" name="adj"/>
            </a:avLst>
          </a:prstGeom>
          <a:solidFill>
            <a:srgbClr val="1E426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00000" spcFirstLastPara="1" rIns="100000" wrap="square" tIns="9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CBD5E1"/>
                </a:solidFill>
              </a:rPr>
              <a:t>M</a:t>
            </a: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ajor features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5"/>
          <p:cNvSpPr/>
          <p:nvPr/>
        </p:nvSpPr>
        <p:spPr>
          <a:xfrm>
            <a:off x="6173617" y="1975000"/>
            <a:ext cx="2164800" cy="1149900"/>
          </a:xfrm>
          <a:prstGeom prst="roundRect">
            <a:avLst>
              <a:gd fmla="val 7000" name="adj"/>
            </a:avLst>
          </a:prstGeom>
          <a:solidFill>
            <a:srgbClr val="1E426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00000" spcFirstLastPara="1" rIns="100000" wrap="square" tIns="9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CBD5E1"/>
                </a:solidFill>
              </a:rPr>
              <a:t>R</a:t>
            </a: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oles with RBAC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5"/>
          <p:cNvSpPr/>
          <p:nvPr/>
        </p:nvSpPr>
        <p:spPr>
          <a:xfrm>
            <a:off x="8478473" y="1975000"/>
            <a:ext cx="2164800" cy="1149900"/>
          </a:xfrm>
          <a:prstGeom prst="roundRect">
            <a:avLst>
              <a:gd fmla="val 7000" name="adj"/>
            </a:avLst>
          </a:prstGeom>
          <a:solidFill>
            <a:srgbClr val="1E426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00000" spcFirstLastPara="1" rIns="100000" wrap="square" tIns="9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235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CBD5E1"/>
                </a:solidFill>
              </a:rPr>
              <a:t>T</a:t>
            </a: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est cases, 100% pass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5"/>
          <p:cNvSpPr/>
          <p:nvPr/>
        </p:nvSpPr>
        <p:spPr>
          <a:xfrm>
            <a:off x="411480" y="3400000"/>
            <a:ext cx="11384280" cy="1150000"/>
          </a:xfrm>
          <a:prstGeom prst="roundRect">
            <a:avLst>
              <a:gd fmla="val 7000" name="adj"/>
            </a:avLst>
          </a:prstGeom>
          <a:solidFill>
            <a:srgbClr val="1E426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0000" lIns="220000" spcFirstLastPara="1" rIns="220000" wrap="square" tIns="1300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Electronic Training Record (ETR) — SU26SE104_GSU48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Thank you. We welcome your questions and feedback.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Group SU2026-GSU-ETR  ·  Nguyen Huu Nhat Trieu · Vo Trong Nhan · Doan Trong Khoi · Tran Trong Nhan  ·  Supervisor: Ngo Dang Ha An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5"/>
          <p:cNvSpPr txBox="1"/>
          <p:nvPr/>
        </p:nvSpPr>
        <p:spPr>
          <a:xfrm>
            <a:off x="411480" y="5000000"/>
            <a:ext cx="1138428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Q &amp; 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