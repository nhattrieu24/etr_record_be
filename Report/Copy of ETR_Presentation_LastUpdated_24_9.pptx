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Merriweather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35D328-A9B8-4E1E-BDD6-89729396EE1B}">
  <a:tblStyle styleId="{4235D328-A9B8-4E1E-BDD6-89729396EE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76bad02b694b834_0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176bad02b694b834_0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76bad02b694b834_0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176bad02b694b834_0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76bad02b694b834_0_7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176bad02b694b834_0_7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176bad02b694b834_0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176bad02b694b834_0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176bad02b694b834_0_10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176bad02b694b834_0_10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24D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/>
        </p:nvSpPr>
        <p:spPr>
          <a:xfrm>
            <a:off x="914400" y="8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SU26SE104_GSU48   •   CAPSTONE PROJECT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 txBox="1"/>
          <p:nvPr/>
        </p:nvSpPr>
        <p:spPr>
          <a:xfrm>
            <a:off x="914400" y="1250000"/>
            <a:ext cx="85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Electronic Training Record (ETR)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/>
          <p:cNvSpPr txBox="1"/>
          <p:nvPr/>
        </p:nvSpPr>
        <p:spPr>
          <a:xfrm>
            <a:off x="914400" y="208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Digitalizing Aviation Training Records Management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4"/>
          <p:cNvCxnSpPr/>
          <p:nvPr/>
        </p:nvCxnSpPr>
        <p:spPr>
          <a:xfrm>
            <a:off x="914400" y="2620000"/>
            <a:ext cx="56000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4"/>
          <p:cNvSpPr txBox="1"/>
          <p:nvPr/>
        </p:nvSpPr>
        <p:spPr>
          <a:xfrm>
            <a:off x="914400" y="2820000"/>
            <a:ext cx="8600000" cy="2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Group: </a:t>
            </a:r>
            <a:r>
              <a:rPr b="1" i="0" lang="en-US" sz="125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SU2026-GSU-ETR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Nguyen Huu Nhat Trieu (SE170486)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Team Leader · Full-stack &amp; Integration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Vo Trong Nhan (SE171411)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Front-end · QA Tester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Doan Trong Khoi (SE141053)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Back-end · Automation Tester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Arial"/>
              <a:buChar char="•"/>
            </a:pPr>
            <a:r>
              <a:rPr b="1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 Trong Nhan (SE171973) — </a:t>
            </a:r>
            <a:r>
              <a:rPr b="0" i="0" lang="en-US" sz="11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Front-end · UI/UX &amp; Integration Tester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Supervisor: </a:t>
            </a:r>
            <a:r>
              <a:rPr b="0" i="0" lang="en-US" sz="12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Ngo Dang Ha An    •    Semester: </a:t>
            </a:r>
            <a:r>
              <a:rPr b="1" i="0" lang="en-US" sz="12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Summer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9700000" y="330000"/>
            <a:ext cx="2400000" cy="240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0A5F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0250000" y="1000000"/>
            <a:ext cx="1750000" cy="1750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2DD4B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presentation follows the order the panel evaluates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11480" y="115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Problem &amp; Users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Current manual process, the key problems and the 7 stakeholder roles.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11480" y="218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Scope &amp; Overall Results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68 use cases, what was delivered, and what is out of scope.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11480" y="321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architecture diagram: React SPA → .NET API → Clean Architecture → SQL Server.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11480" y="424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04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Each chosen technology with the reason behind the choice.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11480" y="527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05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Main Functions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Feature groups mapped to the use cases in the SRS.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237760" y="115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06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End-to-end lifecycle: enrol → train → assess → verify → approve → freeze.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237760" y="218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07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Testing &amp; Quality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Test case counts, pass rate and how defects were handled.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237760" y="321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08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Team Roles &amp; Contribution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Who did what, with the evidence behind it.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237760" y="4240000"/>
            <a:ext cx="556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09   </a:t>
            </a:r>
            <a:r>
              <a:rPr b="1" i="0" lang="en-US" sz="1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Known limits stated up front, plus the roadmap.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Problem — Current State (As-Is)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Before any software: how aviation training records are managed today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6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6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11480" y="1120000"/>
            <a:ext cx="11384280" cy="62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00" lIns="180000" spcFirstLastPara="1" rIns="180000" wrap="square" tIns="700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 the academy runs training records on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 forms, Excel sheets, scanned PDFs, shared folders and email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five different storage forms that are never linked together. There is no central system, no record status and no change history.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11480" y="1880000"/>
            <a:ext cx="5592140" cy="118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0000" lIns="200000" spcFirstLastPara="1" rIns="200000" wrap="square" tIns="11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Records kept in many formats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same training record exists as a paper form, an Excel row, a scanned PDF and an email attachment.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single source of truth.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203620" y="1880000"/>
            <a:ext cx="5592140" cy="118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0000" lIns="200000" spcFirstLastPara="1" rIns="200000" wrap="square" tIns="11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Spread across departments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Seven stakeholder roles (Academic Staff, Instructor, QA, Manager, Admin, Auditor, Learner) each hold their own copy.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Nothing is centralised or linked.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11480" y="3220000"/>
            <a:ext cx="5592140" cy="118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0000" lIns="200000" spcFirstLastPara="1" rIns="200000" wrap="square" tIns="11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status or version control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Verification and approval are coordinated manually; several versions of one document coexist.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Outdated files are used by mistake.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203620" y="3220000"/>
            <a:ext cx="5592140" cy="118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0000" lIns="200000" spcFirstLastPara="1" rIns="200000" wrap="square" tIns="110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systematic audit trail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changed or approved a record, and when, is not recorded anywhere consistently.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Audit evidence is assembled by hand.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11480" y="4720000"/>
            <a:ext cx="11384280" cy="70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200000" spcFirstLastPara="1" rIns="200000" wrap="square" tIns="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Consequence: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inconsistent, duplicated or missing data; slow verification and reporting; long manual preparation for CAA / EASA / FAA audits; and no reliable proof of a learner’s training history when it is needed most.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Problem — Key Issues &amp; Impact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Each issue traced to the impact it creates for the academy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7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7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" name="Google Shape;64;p7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{4235D328-A9B8-4E1E-BDD6-89729396EE1B}</a:tableStyleId>
              </a:tblPr>
              <a:tblGrid>
                <a:gridCol w="3200000"/>
                <a:gridCol w="4300000"/>
                <a:gridCol w="3884275"/>
              </a:tblGrid>
              <a:tr h="3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/ Risk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impact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Records lost or damaged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Paper records can be misplaced, damaged by fire or water, or deteriorate over time.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history cannot be proven; retention rules are breached; operations are affected.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version control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Multiple versions of the same document exist in different places.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Outdated data is used; confusion during assessment checks.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 to search and retrieve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Finding an old record means manually reviewing several sources and folders.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Delays in reporting, verification and inspection support.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&amp; audit risk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recorded edit or approval history; records are scattered across departments and formats.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Record validity cannot be proven during audit; dossiers take a long time to compile.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Inconsistent data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same information is re-entered on several forms and files.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discrepancies and inaccurate statistics.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data security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Paper records can be viewed or copied without authorisation.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 data leakage and breaches of data-security rules.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7"/>
          <p:cNvSpPr/>
          <p:nvPr/>
        </p:nvSpPr>
        <p:spPr>
          <a:xfrm>
            <a:off x="411480" y="5380000"/>
            <a:ext cx="11384280" cy="70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200000" spcFirstLastPara="1" rIns="200000" wrap="square" tIns="8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matters: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 not only inefficiencies — in a regulated aviation environment they become compliance and safety risks. The ETR system was built to remove them.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Users — Stakeholders, Roles &amp; Authorization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Seven roles, each with a defined responsibility and a defined boundary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8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8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" name="Google Shape;75;p8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{4235D328-A9B8-4E1E-BDD6-89729396EE1B}</a:tableStyleId>
              </a:tblPr>
              <a:tblGrid>
                <a:gridCol w="2600000"/>
                <a:gridCol w="5000000"/>
                <a:gridCol w="37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Actor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responsibilities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Authorization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Administrator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user accounts, roles and departments; system configuration; review audit logs.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system access; master-data management; administrative reopen of a locked ETR.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Staff (Training Coordinator)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Learner profiles, courses, subjects, classes, enrolment; evidence; submit the ETR dossier.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/ update training data; submit an ETR to QA. Cannot approve its own dossier.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Instructor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Record attendance, assessment scores and practical checklists; upload evidence; sign off subjects.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Write access limited to assigned classes and subjects only.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 Staff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Verify or reject evidence; review submitted ETRs; return records for correction.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Approve / reject evidence and validate an ETR. Cannot verify evidence they uploaded themselves.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review and approval of verified ETRs; amendment and unlock decisions.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Approve and freeze an ETR; issue certificates; authorise score amendments.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 (CAA)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Independent compliance review of locked records, approval history and audit logs.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Read-only: search, inspect and export training packages. No write operations.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(Learner)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 own ETR status, attendance, results, certificates and training history.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Read-only on official records; can maintain the personal profile and password.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8"/>
          <p:cNvSpPr/>
          <p:nvPr/>
        </p:nvSpPr>
        <p:spPr>
          <a:xfrm>
            <a:off x="411480" y="5600000"/>
            <a:ext cx="11384280" cy="62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00" lIns="200000" spcFirstLastPara="1" rIns="200000" wrap="square" tIns="6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Separation of duties: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entry, quality verification, final approval, system administration and independent audit are handled by different roles — enforced in code, not by convention.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Scope &amp; Overall Results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was registered, and what was actually delivered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9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411480" y="1120000"/>
            <a:ext cx="272607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68 / 68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cases registered → delivered (UC-01…UC-68)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3297550" y="1120000"/>
            <a:ext cx="272607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Major features implemented (F-01…F-35)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6183620" y="1120000"/>
            <a:ext cx="272607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User roles with role-based access control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9069690" y="1120000"/>
            <a:ext cx="2726070" cy="108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Test cases executed, 100% passing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11480" y="2420000"/>
            <a:ext cx="690000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scope — delivered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User, role and access management (RBAC)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Learner, course, subject and class management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Enrolment with automatic ETR generation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Attendance recording and rate calculation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Assessment, practical checklist and sign-off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Evidence upload, verification and version control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ETR submission, QA review, approval and Deep Freeze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Amendment / unlock workflow and retake history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Dashboards, notifications, audit trail and exports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7511480" y="2420000"/>
            <a:ext cx="4284280" cy="213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0000" lIns="200000" spcFirstLastPara="1" rIns="200000" wrap="square" tIns="12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of scope (stated exclusions)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Learning Management System / e-learning delivery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Online examinations and automated exam grading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Integration with external aviation authorities or airlines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Payment and training-fee management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Advanced / predictive analytics and AI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Multi-factor authentication and enterprise SSO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Native Android / iOS applications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System </a:t>
            </a:r>
            <a:r>
              <a:rPr b="1" lang="en-US" sz="2400">
                <a:solidFill>
                  <a:srgbClr val="17324D"/>
                </a:solidFill>
              </a:rPr>
              <a:t>Design /</a:t>
            </a: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 Architecture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0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0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975" y="1376963"/>
            <a:ext cx="8106750" cy="47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Not just a list — the reason each technology was chosen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1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1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11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{4235D328-A9B8-4E1E-BDD6-89729396EE1B}</a:tableStyleId>
              </a:tblPr>
              <a:tblGrid>
                <a:gridCol w="1900000"/>
                <a:gridCol w="3600000"/>
                <a:gridCol w="58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/ purpose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we chose it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19 + Vite 8, React Router 7, SCSS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Component-based SPA with fast builds; ApexCharts for dashboards and SheetJS for Excel export.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ASP.NET Core Web API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 REST tooling, EF Core, dependency injection and a clean layered structure.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Architecture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 Architecture — API / Application / Domain / Infrastructure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Keeps business rules independent and testable; framework changes stay in the outer layer.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 Server (Azure SQL)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Relational and transactional; constraints and reporting suit compliance records.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Authentication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 + BCrypt password hashing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Stateless authentication with role-based (zero-trust) checks on every request.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storage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Cloudinary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files are stored off-site with integrity hashing; the database keeps only metadata.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Documents &amp; mail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QuestPDF, ClosedXML, MailKit (SMTP)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certificates and Excel reports generated server-side; automatic email notifications.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xUnit + Moq (backend), Vitest (frontend), Postman/Swagger (API)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Automated verification of business rules plus API contract and UI testing.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Azure App Service + Azure SQL + Vercel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 hosting with continuous delivery and separate frontend/backend releases.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Main Functions (1/2)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Feature groups mapped to the use cases defined in the SRS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2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2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0" name="Google Shape;120;p12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{4235D328-A9B8-4E1E-BDD6-89729396EE1B}</a:tableStyleId>
              </a:tblPr>
              <a:tblGrid>
                <a:gridCol w="2100000"/>
                <a:gridCol w="5500000"/>
                <a:gridCol w="1700000"/>
                <a:gridCol w="20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 group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functions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actor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administration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Account, role and department management; audit log; system statistics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UC-48 → UC-55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Administrator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Learner &amp; curriculum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Learner records, courses, subjects, classes, enrolment, retake carry-over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UC-02 → UC-09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Staff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ETR lifecycle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Auto-generate ETR on enrolment, 4 compliance gates, submit to QA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UC-07, UC-13, UC-14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Academic Staff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Attendance &amp; assessment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 attendance, finalise session, record scores, practical checklist, sign-off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UC-17 → UC-21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Instructor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&amp; QA verification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 / verify / reject evidence, maker-checker rule, review queue, return for correction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UC-22, UC-29 → UC-33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Instructor · QA Staff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Approval &amp; locking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approval, Deep Freeze, certificate issue, amendment / unlock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UC-38 → UC-47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Audit, search &amp; export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Locked-ETR archive, advanced search, approval chain, ZIP/PDF packages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UC-62 → UC-68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Dashboards &amp; self-service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 dashboards, learner progress, certificates, notifications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UC-01, UC-15, UC-56 → UC-61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roles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2563EB"/>
                </a:solidFill>
              </a:rPr>
              <a:t>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1 - User &amp; Access Management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3"/>
          <p:cNvSpPr txBox="1"/>
          <p:nvPr/>
        </p:nvSpPr>
        <p:spPr>
          <a:xfrm>
            <a:off x="960115" y="606131"/>
            <a:ext cx="408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Administrator                                         </a:t>
            </a:r>
            <a:endParaRPr sz="100"/>
          </a:p>
        </p:txBody>
      </p:sp>
      <p:sp>
        <p:nvSpPr>
          <p:cNvPr id="129" name="Google Shape;129;p13"/>
          <p:cNvSpPr txBox="1"/>
          <p:nvPr/>
        </p:nvSpPr>
        <p:spPr>
          <a:xfrm>
            <a:off x="3503728" y="606134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" name="Google Shape;130;p13"/>
          <p:cNvSpPr/>
          <p:nvPr/>
        </p:nvSpPr>
        <p:spPr>
          <a:xfrm>
            <a:off x="461250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Account Creation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1" name="Google Shape;131;p13"/>
          <p:cNvSpPr/>
          <p:nvPr/>
        </p:nvSpPr>
        <p:spPr>
          <a:xfrm>
            <a:off x="3369689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Role-Based Access Control (RBAC)</a:t>
            </a:r>
            <a:endParaRPr sz="13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6278128" y="3267303"/>
            <a:ext cx="2432100" cy="1381800"/>
          </a:xfrm>
          <a:prstGeom prst="rect">
            <a:avLst/>
          </a:prstGeom>
          <a:solidFill>
            <a:srgbClr val="E7E6E6"/>
          </a:solidFill>
          <a:ln cap="flat" cmpd="sng" w="8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00" lIns="83900" spcFirstLastPara="1" rIns="83900" wrap="square" tIns="83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Manage and Update User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9186580" y="3267300"/>
            <a:ext cx="2658900" cy="1381800"/>
          </a:xfrm>
          <a:prstGeom prst="rect">
            <a:avLst/>
          </a:prstGeom>
          <a:solidFill>
            <a:srgbClr val="E7E6E6"/>
          </a:solidFill>
          <a:ln cap="flat" cmpd="sng" w="107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Activity Oversight (Audit Log)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34" name="Google Shape;134;p13"/>
          <p:cNvCxnSpPr>
            <a:stCxn id="130" idx="3"/>
            <a:endCxn id="131" idx="1"/>
          </p:cNvCxnSpPr>
          <p:nvPr/>
        </p:nvCxnSpPr>
        <p:spPr>
          <a:xfrm>
            <a:off x="2893350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3"/>
          <p:cNvCxnSpPr>
            <a:stCxn id="131" idx="3"/>
            <a:endCxn id="132" idx="1"/>
          </p:cNvCxnSpPr>
          <p:nvPr/>
        </p:nvCxnSpPr>
        <p:spPr>
          <a:xfrm>
            <a:off x="5801789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3"/>
          <p:cNvCxnSpPr>
            <a:stCxn id="132" idx="3"/>
            <a:endCxn id="133" idx="1"/>
          </p:cNvCxnSpPr>
          <p:nvPr/>
        </p:nvCxnSpPr>
        <p:spPr>
          <a:xfrm>
            <a:off x="8710228" y="3958203"/>
            <a:ext cx="476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3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2563EB"/>
                </a:solidFill>
              </a:rPr>
              <a:t>2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2 - Learner, Course &amp; Enrollment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4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4"/>
          <p:cNvSpPr txBox="1"/>
          <p:nvPr/>
        </p:nvSpPr>
        <p:spPr>
          <a:xfrm>
            <a:off x="960122" y="594340"/>
            <a:ext cx="410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Academic Staff</a:t>
            </a:r>
            <a:endParaRPr sz="1700"/>
          </a:p>
        </p:txBody>
      </p:sp>
      <p:sp>
        <p:nvSpPr>
          <p:cNvPr id="146" name="Google Shape;146;p14"/>
          <p:cNvSpPr txBox="1"/>
          <p:nvPr/>
        </p:nvSpPr>
        <p:spPr>
          <a:xfrm>
            <a:off x="3702747" y="594343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7" name="Google Shape;147;p14"/>
          <p:cNvSpPr/>
          <p:nvPr/>
        </p:nvSpPr>
        <p:spPr>
          <a:xfrm>
            <a:off x="421438" y="3139167"/>
            <a:ext cx="23601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Enrollment </a:t>
            </a: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Academic staff initiates learner enrollment into a specific class.</a:t>
            </a:r>
            <a:endParaRPr sz="1265"/>
          </a:p>
        </p:txBody>
      </p:sp>
      <p:sp>
        <p:nvSpPr>
          <p:cNvPr id="148" name="Google Shape;148;p14"/>
          <p:cNvSpPr/>
          <p:nvPr/>
        </p:nvSpPr>
        <p:spPr>
          <a:xfrm>
            <a:off x="3489239" y="3139167"/>
            <a:ext cx="23601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Auto-Generation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automatically provisions the ETR Course Record in 'Draft' state.</a:t>
            </a:r>
            <a:endParaRPr sz="1265">
              <a:solidFill>
                <a:srgbClr val="000000"/>
              </a:solidFill>
            </a:endParaRPr>
          </a:p>
          <a:p>
            <a:pPr indent="0" lvl="0" marL="4449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9274863" y="3118875"/>
            <a:ext cx="2495700" cy="12603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Ensuring Completeness</a:t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Guarantees no missing records by automating the foundational data setup.</a:t>
            </a:r>
            <a:endParaRPr sz="1265">
              <a:solidFill>
                <a:srgbClr val="000000"/>
              </a:solidFill>
            </a:endParaRPr>
          </a:p>
          <a:p>
            <a:pPr indent="0" lvl="0" marL="4449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6438937" y="3139167"/>
            <a:ext cx="2312700" cy="1219500"/>
          </a:xfrm>
          <a:prstGeom prst="rect">
            <a:avLst/>
          </a:prstGeom>
          <a:solidFill>
            <a:srgbClr val="E7E6E6"/>
          </a:solidFill>
          <a:ln cap="flat" cmpd="sng" w="9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75" lIns="88975" spcFirstLastPara="1" rIns="88975" wrap="square" tIns="8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Curriculum &amp; Schedule Mapping : </a:t>
            </a:r>
            <a:r>
              <a:rPr lang="en-US" sz="12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Auto-binds course subjects, passing score snapshots, and attendance rosters.</a:t>
            </a:r>
            <a:r>
              <a:rPr b="1" lang="en-US" sz="12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6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1" name="Google Shape;151;p14"/>
          <p:cNvCxnSpPr>
            <a:stCxn id="147" idx="3"/>
            <a:endCxn id="148" idx="1"/>
          </p:cNvCxnSpPr>
          <p:nvPr/>
        </p:nvCxnSpPr>
        <p:spPr>
          <a:xfrm>
            <a:off x="2781538" y="3748917"/>
            <a:ext cx="707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4"/>
          <p:cNvCxnSpPr>
            <a:stCxn id="148" idx="3"/>
            <a:endCxn id="150" idx="1"/>
          </p:cNvCxnSpPr>
          <p:nvPr/>
        </p:nvCxnSpPr>
        <p:spPr>
          <a:xfrm>
            <a:off x="5849339" y="3748917"/>
            <a:ext cx="5895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4"/>
          <p:cNvCxnSpPr>
            <a:stCxn id="150" idx="3"/>
            <a:endCxn id="149" idx="1"/>
          </p:cNvCxnSpPr>
          <p:nvPr/>
        </p:nvCxnSpPr>
        <p:spPr>
          <a:xfrm>
            <a:off x="8751637" y="3748917"/>
            <a:ext cx="523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4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2563EB"/>
                </a:solidFill>
              </a:rPr>
              <a:t>3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3 - Attendance &amp; Assessment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15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5"/>
          <p:cNvSpPr txBox="1"/>
          <p:nvPr/>
        </p:nvSpPr>
        <p:spPr>
          <a:xfrm>
            <a:off x="960115" y="594356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Instructor</a:t>
            </a:r>
            <a:endParaRPr sz="1700"/>
          </a:p>
        </p:txBody>
      </p:sp>
      <p:sp>
        <p:nvSpPr>
          <p:cNvPr id="163" name="Google Shape;163;p15"/>
          <p:cNvSpPr txBox="1"/>
          <p:nvPr/>
        </p:nvSpPr>
        <p:spPr>
          <a:xfrm>
            <a:off x="253078" y="3690603"/>
            <a:ext cx="41412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850" lIns="97725" spcFirstLastPara="1" rIns="97725" wrap="square" tIns="48850">
            <a:spAutoFit/>
          </a:bodyPr>
          <a:lstStyle/>
          <a:p>
            <a:pPr indent="-122191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24"/>
              <a:buFont typeface="Arial"/>
              <a:buChar char="•"/>
            </a:pPr>
            <a:r>
              <a:t/>
            </a:r>
            <a:endParaRPr sz="1497"/>
          </a:p>
        </p:txBody>
      </p:sp>
      <p:sp>
        <p:nvSpPr>
          <p:cNvPr id="164" name="Google Shape;164;p15"/>
          <p:cNvSpPr txBox="1"/>
          <p:nvPr/>
        </p:nvSpPr>
        <p:spPr>
          <a:xfrm>
            <a:off x="662940" y="5572446"/>
            <a:ext cx="387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270800" y="2974155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Isolation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Instructors can only access and modify data for classes they are explicitly assigned to teach.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sp>
        <p:nvSpPr>
          <p:cNvPr id="166" name="Google Shape;166;p15"/>
          <p:cNvSpPr/>
          <p:nvPr/>
        </p:nvSpPr>
        <p:spPr>
          <a:xfrm>
            <a:off x="3261277" y="2967114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Attendance Tracking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Real-time session confirmation and presence marking.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sp>
        <p:nvSpPr>
          <p:cNvPr id="167" name="Google Shape;167;p15"/>
          <p:cNvSpPr/>
          <p:nvPr/>
        </p:nvSpPr>
        <p:spPr>
          <a:xfrm>
            <a:off x="6251761" y="2981341"/>
            <a:ext cx="2661000" cy="12666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Automated Grading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automatically calculates attendance rates and evaluates Pass/Fail status against configured thresholds.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2"/>
          </a:p>
        </p:txBody>
      </p:sp>
      <p:sp>
        <p:nvSpPr>
          <p:cNvPr id="168" name="Google Shape;168;p15"/>
          <p:cNvSpPr/>
          <p:nvPr/>
        </p:nvSpPr>
        <p:spPr>
          <a:xfrm>
            <a:off x="9651657" y="2967114"/>
            <a:ext cx="2302500" cy="1281000"/>
          </a:xfrm>
          <a:prstGeom prst="rect">
            <a:avLst/>
          </a:prstGeom>
          <a:solidFill>
            <a:srgbClr val="E7E6E6"/>
          </a:solidFill>
          <a:ln cap="flat" cmpd="sng" w="10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25" lIns="97725" spcFirstLastPara="1" rIns="97725" wrap="square" tIns="9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2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Input Validation</a:t>
            </a:r>
            <a:endParaRPr b="1" sz="1252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Backend constraints reject invalid score inputs immediately.</a:t>
            </a:r>
            <a:endParaRPr sz="1252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/>
          </a:p>
        </p:txBody>
      </p:sp>
      <p:cxnSp>
        <p:nvCxnSpPr>
          <p:cNvPr id="169" name="Google Shape;169;p15"/>
          <p:cNvCxnSpPr>
            <a:stCxn id="165" idx="3"/>
            <a:endCxn id="166" idx="1"/>
          </p:cNvCxnSpPr>
          <p:nvPr/>
        </p:nvCxnSpPr>
        <p:spPr>
          <a:xfrm flipH="1" rot="10800000">
            <a:off x="2573300" y="3607755"/>
            <a:ext cx="687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5"/>
          <p:cNvCxnSpPr>
            <a:stCxn id="166" idx="3"/>
            <a:endCxn id="167" idx="1"/>
          </p:cNvCxnSpPr>
          <p:nvPr/>
        </p:nvCxnSpPr>
        <p:spPr>
          <a:xfrm>
            <a:off x="5563777" y="3607614"/>
            <a:ext cx="687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5"/>
          <p:cNvCxnSpPr>
            <a:stCxn id="167" idx="3"/>
            <a:endCxn id="168" idx="1"/>
          </p:cNvCxnSpPr>
          <p:nvPr/>
        </p:nvCxnSpPr>
        <p:spPr>
          <a:xfrm flipH="1" rot="10800000">
            <a:off x="8912761" y="3607741"/>
            <a:ext cx="738900" cy="6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15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2563EB"/>
                </a:solidFill>
              </a:rPr>
              <a:t>4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4 - Evidence &amp; QA Verification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6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6"/>
          <p:cNvSpPr txBox="1"/>
          <p:nvPr/>
        </p:nvSpPr>
        <p:spPr>
          <a:xfrm>
            <a:off x="914398" y="600228"/>
            <a:ext cx="399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QA Staff</a:t>
            </a:r>
            <a:endParaRPr sz="1700"/>
          </a:p>
        </p:txBody>
      </p:sp>
      <p:sp>
        <p:nvSpPr>
          <p:cNvPr id="181" name="Google Shape;181;p16"/>
          <p:cNvSpPr txBox="1"/>
          <p:nvPr/>
        </p:nvSpPr>
        <p:spPr>
          <a:xfrm>
            <a:off x="2945072" y="600218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Maker-Checker Compliance</a:t>
            </a:r>
            <a:endParaRPr sz="1700"/>
          </a:p>
        </p:txBody>
      </p:sp>
      <p:sp>
        <p:nvSpPr>
          <p:cNvPr id="182" name="Google Shape;182;p16"/>
          <p:cNvSpPr txBox="1"/>
          <p:nvPr/>
        </p:nvSpPr>
        <p:spPr>
          <a:xfrm>
            <a:off x="7743723" y="3046351"/>
            <a:ext cx="39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578850" y="3049588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Document Upload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Instructors upload physical evidence (scans/PDFs) linked to specific training events.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84" name="Google Shape;184;p16"/>
          <p:cNvSpPr/>
          <p:nvPr/>
        </p:nvSpPr>
        <p:spPr>
          <a:xfrm>
            <a:off x="3394400" y="3049575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Independent Verification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QA staff review pending evidence in a dedicated queue.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85" name="Google Shape;185;p16"/>
          <p:cNvSpPr/>
          <p:nvPr/>
        </p:nvSpPr>
        <p:spPr>
          <a:xfrm>
            <a:off x="6209938" y="3049575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Strict Enforcement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strictly prohibits users from verifying documents they uploaded themselves.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86" name="Google Shape;186;p16"/>
          <p:cNvSpPr/>
          <p:nvPr/>
        </p:nvSpPr>
        <p:spPr>
          <a:xfrm>
            <a:off x="9091038" y="3049600"/>
            <a:ext cx="2331300" cy="13989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Audit Readiness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Ensures all training data is backed by verified physical or digital proofs.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cxnSp>
        <p:nvCxnSpPr>
          <p:cNvPr id="187" name="Google Shape;187;p16"/>
          <p:cNvCxnSpPr>
            <a:stCxn id="183" idx="3"/>
            <a:endCxn id="184" idx="1"/>
          </p:cNvCxnSpPr>
          <p:nvPr/>
        </p:nvCxnSpPr>
        <p:spPr>
          <a:xfrm>
            <a:off x="2910150" y="3749038"/>
            <a:ext cx="484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6"/>
          <p:cNvCxnSpPr>
            <a:endCxn id="185" idx="1"/>
          </p:cNvCxnSpPr>
          <p:nvPr/>
        </p:nvCxnSpPr>
        <p:spPr>
          <a:xfrm>
            <a:off x="5725738" y="3749025"/>
            <a:ext cx="4842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6"/>
          <p:cNvCxnSpPr>
            <a:stCxn id="185" idx="3"/>
            <a:endCxn id="186" idx="1"/>
          </p:cNvCxnSpPr>
          <p:nvPr/>
        </p:nvCxnSpPr>
        <p:spPr>
          <a:xfrm>
            <a:off x="8541238" y="3749025"/>
            <a:ext cx="5499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16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5 - ETR Approval &amp; Freeze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7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7"/>
          <p:cNvSpPr txBox="1"/>
          <p:nvPr/>
        </p:nvSpPr>
        <p:spPr>
          <a:xfrm>
            <a:off x="960114" y="606131"/>
            <a:ext cx="469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Training Manager</a:t>
            </a:r>
            <a:endParaRPr sz="1700"/>
          </a:p>
        </p:txBody>
      </p:sp>
      <p:sp>
        <p:nvSpPr>
          <p:cNvPr id="199" name="Google Shape;199;p17"/>
          <p:cNvSpPr txBox="1"/>
          <p:nvPr/>
        </p:nvSpPr>
        <p:spPr>
          <a:xfrm>
            <a:off x="4004490" y="606134"/>
            <a:ext cx="38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Deep Freeze Mechanism</a:t>
            </a:r>
            <a:endParaRPr sz="1700"/>
          </a:p>
        </p:txBody>
      </p:sp>
      <p:sp>
        <p:nvSpPr>
          <p:cNvPr id="200" name="Google Shape;200;p17"/>
          <p:cNvSpPr/>
          <p:nvPr/>
        </p:nvSpPr>
        <p:spPr>
          <a:xfrm>
            <a:off x="460425" y="2972477"/>
            <a:ext cx="2467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Final Authority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Training Manager reviews fully verified ETRs for final sign-off.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01" name="Google Shape;201;p17"/>
          <p:cNvSpPr/>
          <p:nvPr/>
        </p:nvSpPr>
        <p:spPr>
          <a:xfrm>
            <a:off x="3372075" y="2972475"/>
            <a:ext cx="26004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Pre-Validation Engine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System checks all prerequisites (attendance, passing scores, verified evidence) before allowing approval.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02" name="Google Shape;202;p17"/>
          <p:cNvSpPr/>
          <p:nvPr/>
        </p:nvSpPr>
        <p:spPr>
          <a:xfrm>
            <a:off x="6416925" y="2972475"/>
            <a:ext cx="24030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Immutability Lock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Upon approval, the ETR enters the 'Completed' state.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03" name="Google Shape;203;p17"/>
          <p:cNvSpPr/>
          <p:nvPr/>
        </p:nvSpPr>
        <p:spPr>
          <a:xfrm>
            <a:off x="9264375" y="2972475"/>
            <a:ext cx="2467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Integrity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'Deep Freeze' prevents any further modifications by any user, ensuring regulatory compliance.</a:t>
            </a:r>
            <a:endParaRPr sz="1300">
              <a:solidFill>
                <a:srgbClr val="000000"/>
              </a:solidFill>
            </a:endParaRPr>
          </a:p>
        </p:txBody>
      </p:sp>
      <p:cxnSp>
        <p:nvCxnSpPr>
          <p:cNvPr id="204" name="Google Shape;204;p17"/>
          <p:cNvCxnSpPr>
            <a:stCxn id="200" idx="3"/>
            <a:endCxn id="201" idx="1"/>
          </p:cNvCxnSpPr>
          <p:nvPr/>
        </p:nvCxnSpPr>
        <p:spPr>
          <a:xfrm>
            <a:off x="2927625" y="3666977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7"/>
          <p:cNvCxnSpPr>
            <a:stCxn id="201" idx="3"/>
            <a:endCxn id="202" idx="1"/>
          </p:cNvCxnSpPr>
          <p:nvPr/>
        </p:nvCxnSpPr>
        <p:spPr>
          <a:xfrm>
            <a:off x="5972475" y="3666975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17"/>
          <p:cNvCxnSpPr>
            <a:stCxn id="202" idx="3"/>
            <a:endCxn id="203" idx="1"/>
          </p:cNvCxnSpPr>
          <p:nvPr/>
        </p:nvCxnSpPr>
        <p:spPr>
          <a:xfrm>
            <a:off x="8819925" y="3666975"/>
            <a:ext cx="444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17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411480" y="292608"/>
            <a:ext cx="50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563EB"/>
                </a:solidFill>
              </a:rPr>
              <a:t>16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960120" y="210312"/>
            <a:ext cx="896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Flow 6 - Reporting, Export &amp; Audit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8"/>
          <p:cNvCxnSpPr/>
          <p:nvPr/>
        </p:nvCxnSpPr>
        <p:spPr>
          <a:xfrm>
            <a:off x="411480" y="960120"/>
            <a:ext cx="113844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8"/>
          <p:cNvSpPr txBox="1"/>
          <p:nvPr/>
        </p:nvSpPr>
        <p:spPr>
          <a:xfrm>
            <a:off x="960122" y="594340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Role: Auditor / Admin</a:t>
            </a:r>
            <a:endParaRPr sz="1700"/>
          </a:p>
        </p:txBody>
      </p:sp>
      <p:sp>
        <p:nvSpPr>
          <p:cNvPr id="216" name="Google Shape;216;p18"/>
          <p:cNvSpPr txBox="1"/>
          <p:nvPr/>
        </p:nvSpPr>
        <p:spPr>
          <a:xfrm>
            <a:off x="4023322" y="606118"/>
            <a:ext cx="42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Traceability &amp; CAA Compliance</a:t>
            </a:r>
            <a:endParaRPr sz="1700"/>
          </a:p>
        </p:txBody>
      </p:sp>
      <p:sp>
        <p:nvSpPr>
          <p:cNvPr id="217" name="Google Shape;217;p18"/>
          <p:cNvSpPr/>
          <p:nvPr/>
        </p:nvSpPr>
        <p:spPr>
          <a:xfrm>
            <a:off x="534250" y="3054525"/>
            <a:ext cx="2302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Automated Audit Trails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Entity Framework Interceptors automatically log every create, update, and delete action across the system.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18" name="Google Shape;218;p18"/>
          <p:cNvSpPr/>
          <p:nvPr/>
        </p:nvSpPr>
        <p:spPr>
          <a:xfrm>
            <a:off x="3412225" y="3054525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Immutable Logs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Audit entries record user, action, timestamp, and data changes, and cannot be altered.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19" name="Google Shape;219;p18"/>
          <p:cNvSpPr/>
          <p:nvPr/>
        </p:nvSpPr>
        <p:spPr>
          <a:xfrm>
            <a:off x="9095850" y="3054538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Regulatory Readiness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Streamlines the preparation process for external Civil Aviation Authority (CAA) audits.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20" name="Google Shape;220;p18"/>
          <p:cNvSpPr/>
          <p:nvPr/>
        </p:nvSpPr>
        <p:spPr>
          <a:xfrm>
            <a:off x="6251200" y="3054538"/>
            <a:ext cx="2263200" cy="13890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Package Generation</a:t>
            </a:r>
            <a:endParaRPr b="1" sz="13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One-click compilation of the entire Training Package (PDF/ZIP) for completed ETRs.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cxnSp>
        <p:nvCxnSpPr>
          <p:cNvPr id="221" name="Google Shape;221;p18"/>
          <p:cNvCxnSpPr>
            <a:stCxn id="217" idx="3"/>
            <a:endCxn id="218" idx="1"/>
          </p:cNvCxnSpPr>
          <p:nvPr/>
        </p:nvCxnSpPr>
        <p:spPr>
          <a:xfrm>
            <a:off x="2836450" y="3749025"/>
            <a:ext cx="575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8"/>
          <p:cNvCxnSpPr>
            <a:stCxn id="218" idx="3"/>
            <a:endCxn id="220" idx="1"/>
          </p:cNvCxnSpPr>
          <p:nvPr/>
        </p:nvCxnSpPr>
        <p:spPr>
          <a:xfrm>
            <a:off x="5675425" y="3749025"/>
            <a:ext cx="5757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8"/>
          <p:cNvCxnSpPr>
            <a:stCxn id="220" idx="3"/>
            <a:endCxn id="219" idx="1"/>
          </p:cNvCxnSpPr>
          <p:nvPr/>
        </p:nvCxnSpPr>
        <p:spPr>
          <a:xfrm>
            <a:off x="8514400" y="3749038"/>
            <a:ext cx="5814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18"/>
          <p:cNvSpPr txBox="1"/>
          <p:nvPr/>
        </p:nvSpPr>
        <p:spPr>
          <a:xfrm>
            <a:off x="411480" y="6537960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Testing &amp; Quality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235 test cases across two levels, three execution rounds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9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9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1148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 test cases (129 unit + 106 system)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29755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100.0%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Pass rate — 235 of 235 passed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18362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Defects open at release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069690" y="1120000"/>
            <a:ext cx="2726070" cy="104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100000" spcFirstLastPara="1" rIns="100000" wrap="square" tIns="8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31 / 27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Service functions / features covered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11480" y="2380000"/>
            <a:ext cx="5592140" cy="25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00000" spcFirstLastPara="1" rIns="200000" wrap="square" tIns="13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testing (white-box)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xUnit + Moq, Arrange-Act-Assert. 129 cases covering 31 service functions — Normal 40 (31.0%), Abnormal 64 (49.6%), Boundary 25 (19.4%).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&amp; integration testing (black-box)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106 cases across 27 features / controllers, executed in 3 rounds: Round 1 defect detection → Round 2 fix &amp; re-test → Round 3 regression verification.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&amp; RBAC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Cross-role checks: an Instructor cannot verify evidence, Academic Staff cannot approve an ETR, Auditor has read-only access and no write operation succeeds.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6203620" y="2380000"/>
            <a:ext cx="5592140" cy="25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00000" spcFirstLastPara="1" rIns="200000" wrap="square" tIns="13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 handling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Defects found in Round 1 were logged in GitHub Issues with severity, then fixed and re-tested in Rounds 2–3. No defect remains open at release (defect log — Report 5).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gates vs. plan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defect ceilings: unit ≤ 2%, integration ≤ 4%, system ≤ 5%, acceptance ≤ 3%. All gate criteria were met before deployment.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&amp; environment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Swagger / Postman for API, Vitest for frontend, Chrome &amp; Edge for cross-browser checks; automated rollback on the SQL Server test database.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Team Roles &amp; Contribution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Who did what — with the evidence behind each claim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20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p20"/>
          <p:cNvGraphicFramePr/>
          <p:nvPr/>
        </p:nvGraphicFramePr>
        <p:xfrm>
          <a:off x="411480" y="1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{4235D328-A9B8-4E1E-BDD6-89729396EE1B}</a:tableStyleId>
              </a:tblPr>
              <a:tblGrid>
                <a:gridCol w="2900000"/>
                <a:gridCol w="5200000"/>
                <a:gridCol w="3284275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(role)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contribution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/ deliverables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solidFill>
                      <a:srgbClr val="17324D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Nguyen Huu Nhat Trieu (SE170486)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Leader · Full-stack · Test Manager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 analysis and SRS baseline; system architecture; core ETR workflow (validation, submission, approval, locking); test management and UAT.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 3 (SRS), Report 4 (SDD), backend repository, test plan &amp; UAT evidence.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 Trong Nhan (SE171411)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Front-end · QA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 and dashboard screens; manual cross-browser testing on Chrome/Edge; defect logging and verification between Rounds 1–2.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 6 (user guides), Report 5 test report, frontend repository.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Doan Trong Khoi (SE141053)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Back-end · Automation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services and EF Core data access; backend unit tests and API integration tests.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repository, Report5_Unit Test — 129 unit test cases.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1F5F9"/>
                    </a:solidFill>
                  </a:tcPr>
                </a:tc>
              </a:tr>
              <a:tr h="8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 Trong Nhan (SE171973)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Front-end · UI/UX &amp; Integration Tester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UI/UX prototype; student and auditor screens; API contract checks, Cloudinary upload payloads and Excel import dry-run validation.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UI/UX prototype, Report 6 screens/walkthroughs, Report 5 integration evidence.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members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 reviews (R/D responsibility matrix), weekly sprints, code reviews on every pull request and demo rehearsals.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Reports 1–7, GitHub pull-request history, weekly status reports.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20"/>
          <p:cNvSpPr/>
          <p:nvPr/>
        </p:nvSpPr>
        <p:spPr>
          <a:xfrm>
            <a:off x="411480" y="5700000"/>
            <a:ext cx="11384280" cy="620000"/>
          </a:xfrm>
          <a:prstGeom prst="roundRect">
            <a:avLst>
              <a:gd fmla="val 600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00" lIns="200000" spcFirstLastPara="1" rIns="200000" wrap="square" tIns="6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was split in 1–2 week sprints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no single-owner critical task; frontend and backend were developed in parallel against a documented API contract.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960120" y="176000"/>
            <a:ext cx="1073208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960120" y="560000"/>
            <a:ext cx="10732080" cy="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 state the limitations before the panel has to point them 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411480" y="960120"/>
            <a:ext cx="1138428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1"/>
          <p:cNvSpPr txBox="1"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Electronic Training Record (ETR)  •  SU26SE104_GSU48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11480" y="1554750"/>
            <a:ext cx="5592000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000" lIns="220000" spcFirstLastPara="1" rIns="220000" wrap="square" tIns="14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 (current scope)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Web-based only — a stable network connection and service availability are required.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paper / Excel records are not migrated automatically; migration must be a controlled import.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Learner access is read-only on official records — learners cannot create, verify or approve them.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accuracy depends on correct data entry by staff and on evidence verification.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LMS / e-learning delivery is provided by the system.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integration with external aviation authorities, airlines or third-party platforms.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native mobile application; no multi-factor authentication yet.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203620" y="1554750"/>
            <a:ext cx="5592000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000" lIns="220000" spcFirstLastPara="1" rIns="220000" wrap="square" tIns="140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development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 (Android / iOS) for instructors and learners.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LMS and online-examination integration.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integration with CAA / airline training systems.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analytics and AI-based recommendations (e.g. at-risk learner prediction).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legacy-data migration tooling.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Multi-factor authentication and enterprise SSO.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lnSpc>
                <a:spcPct val="102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 evidence capture for flight-line and simulator environments.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24D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>
            <a:off x="411480" y="700000"/>
            <a:ext cx="1138428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11480" y="1300000"/>
            <a:ext cx="113842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A centralized, traceable and compliant training-record platform — built and verified end to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563905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U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 cases delivered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3868761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M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ajor features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6173617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oles with RBAC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8478473" y="1975000"/>
            <a:ext cx="2164800" cy="11499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00000" spcFirstLastPara="1" rIns="100000" wrap="square" tIns="90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CBD5E1"/>
                </a:solidFill>
              </a:rPr>
              <a:t>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est cases, 100% pass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11480" y="3400000"/>
            <a:ext cx="11384280" cy="1150000"/>
          </a:xfrm>
          <a:prstGeom prst="roundRect">
            <a:avLst>
              <a:gd fmla="val 7000" name="adj"/>
            </a:avLst>
          </a:prstGeom>
          <a:solidFill>
            <a:srgbClr val="1E426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0000" lIns="220000" spcFirstLastPara="1" rIns="220000" wrap="square" tIns="1300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Electronic Training Record (ETR) — SU26SE104_GSU48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Thank you. We welcome your questions and feedback.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Group SU2026-GSU-ETR  ·  Nguyen Huu Nhat Trieu · Vo Trong Nhan · Doan Trong Khoi · Tran Trong Nhan  ·  Supervisor: Ngo Dang Ha 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411480" y="5000000"/>
            <a:ext cx="1138428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